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9"/>
  </p:notesMasterIdLst>
  <p:sldIdLst>
    <p:sldId id="256" r:id="rId2"/>
    <p:sldId id="257" r:id="rId3"/>
    <p:sldId id="261" r:id="rId4"/>
    <p:sldId id="259" r:id="rId5"/>
    <p:sldId id="258" r:id="rId6"/>
    <p:sldId id="260" r:id="rId7"/>
    <p:sldId id="263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3E33"/>
    <a:srgbClr val="FF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79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49cb922a79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249cb922a79_1_1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249cb922a79_1_1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9cb922a79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249cb922a79_1_2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249cb922a79_1_2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16BE681-CD6C-4648-ACA6-F61DABAAB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9cb922a79_1_29:notes">
            <a:extLst>
              <a:ext uri="{FF2B5EF4-FFF2-40B4-BE49-F238E27FC236}">
                <a16:creationId xmlns:a16="http://schemas.microsoft.com/office/drawing/2014/main" id="{38EFAC85-15D8-3DFC-E52B-9802B6313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249cb922a79_1_29:notes">
            <a:extLst>
              <a:ext uri="{FF2B5EF4-FFF2-40B4-BE49-F238E27FC236}">
                <a16:creationId xmlns:a16="http://schemas.microsoft.com/office/drawing/2014/main" id="{8725AE7F-B989-6B72-73EA-6C472A9728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g249cb922a79_1_29:notes">
            <a:extLst>
              <a:ext uri="{FF2B5EF4-FFF2-40B4-BE49-F238E27FC236}">
                <a16:creationId xmlns:a16="http://schemas.microsoft.com/office/drawing/2014/main" id="{2374C642-470C-666C-FCD7-B87C252FE1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2052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9cb922a79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249cb922a79_1_8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9cb922a79_1_8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49cb922a79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249cb922a79_1_14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3" name="Google Shape;213;g249cb922a79_1_14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C63810EA-6F68-E44D-9CCB-DA685D47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49cb922a79_1_143:notes">
            <a:extLst>
              <a:ext uri="{FF2B5EF4-FFF2-40B4-BE49-F238E27FC236}">
                <a16:creationId xmlns:a16="http://schemas.microsoft.com/office/drawing/2014/main" id="{79187137-D924-4DEF-F691-D247B36CA8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249cb922a79_1_143:notes">
            <a:extLst>
              <a:ext uri="{FF2B5EF4-FFF2-40B4-BE49-F238E27FC236}">
                <a16:creationId xmlns:a16="http://schemas.microsoft.com/office/drawing/2014/main" id="{3554DB8A-E41A-4008-52E0-D623223212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3" name="Google Shape;213;g249cb922a79_1_143:notes">
            <a:extLst>
              <a:ext uri="{FF2B5EF4-FFF2-40B4-BE49-F238E27FC236}">
                <a16:creationId xmlns:a16="http://schemas.microsoft.com/office/drawing/2014/main" id="{07BF11E2-A2DC-6649-8B06-3DABA6F620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5129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1">
  <p:cSld name="Титульный слай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4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3E33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476250" y="2258372"/>
            <a:ext cx="6739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 mode для Kilo Code</a:t>
            </a:r>
            <a:endParaRPr sz="380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76250" y="3569481"/>
            <a:ext cx="4095750" cy="850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r>
              <a:rPr lang="ru" sz="12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: «Здесь могла быть реклама вашего банка»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" sz="12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Продуктовый менеджер: Белоконь Михаил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Инженеры продукта: Кирдяшкин Максим, Межуева Екатерина</a:t>
            </a:r>
            <a:endParaRPr lang="ru" sz="1200" dirty="0">
              <a:solidFill>
                <a:schemeClr val="bg1"/>
              </a:solidFill>
              <a:ea typeface="Calibri"/>
            </a:endParaRPr>
          </a:p>
        </p:txBody>
      </p:sp>
      <p:pic>
        <p:nvPicPr>
          <p:cNvPr id="75" name="Google Shape;75;p16" descr="https://pitch-assets-ccb95893-de3f-4266-973c-20049231b248.s3.eu-west-1.amazonaws.com/0e85026a-008d-4f73-b555-d556e9b7acd4?pitch-bytes=4898&amp;pitch-content-type=image%2Fsvg%2Bxm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4304" y="3903121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descr="https://pitch-assets-ccb95893-de3f-4266-973c-20049231b248.s3.eu-west-1.amazonaws.com/efa381c9-5c10-4380-abee-d4f3f03ddc9d?pitch-bytes=3032&amp;pitch-content-type=image%2Fsvg%2Bxm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7400" y="4419600"/>
            <a:ext cx="241300" cy="3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>
            <a:off x="5074073" y="1581090"/>
            <a:ext cx="3873000" cy="8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sz="1200" b="1" dirty="0"/>
              <a:t>Проверка действий ИИ-агента</a:t>
            </a:r>
            <a:r>
              <a:rPr lang="ru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1200" dirty="0"/>
              <a:t>потенциально опасное действие сначала выполняется в безопасной среде, фактические изменения сверяются с заявленным списком, и в проект попадает только проверенное</a:t>
            </a:r>
            <a:endParaRPr sz="1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476250" y="1578879"/>
            <a:ext cx="3869400" cy="143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Проблема:</a:t>
            </a:r>
            <a:r>
              <a:rPr lang="ru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" sz="1200" dirty="0"/>
          </a:p>
          <a:p>
            <a:pPr marL="171450" marR="0" lvl="0" indent="-171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подтверждать каждый шаг утомительно, человек начинает разрешать </a:t>
            </a:r>
            <a:r>
              <a:rPr lang="ru-RU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 глядя</a:t>
            </a:r>
          </a:p>
          <a:p>
            <a:pPr marL="171450" marR="0" lvl="0" indent="-171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разрешить всё сразу </a:t>
            </a:r>
            <a:r>
              <a:rPr lang="ru-RU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опасно</a:t>
            </a:r>
            <a:r>
              <a:rPr lang="ru-RU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украденные ключи, удалённые данные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" sz="12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5071521" y="2587565"/>
            <a:ext cx="3873600" cy="82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Ценность:</a:t>
            </a:r>
            <a:r>
              <a:rPr lang="ru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автономность работы агента без цены в виде инцидента — обычная работа без вопросов, вредное не проходит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369158" y="4193608"/>
            <a:ext cx="2259741" cy="66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класс атак закрыт </a:t>
            </a:r>
            <a:r>
              <a:rPr lang="ru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полностью</a:t>
            </a:r>
            <a:r>
              <a:rPr lang="ru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подброшенный автозапуск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366235" y="3681427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 i="0" u="none" strike="noStrike" cap="none">
                <a:solidFill>
                  <a:srgbClr val="C93E33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625" i="0" u="none" strike="noStrike" cap="none">
              <a:solidFill>
                <a:srgbClr val="C93E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76250" y="906158"/>
            <a:ext cx="690753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Автономность за счет улучшения архитектуры</a:t>
            </a:r>
            <a:endParaRPr sz="2625" i="0" u="none" strike="noStrike" cap="none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4931240" y="1578879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 i="0" u="none" strike="noStrike" cap="none">
                <a:solidFill>
                  <a:srgbClr val="8F2F2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931240" y="2571750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 i="0" u="none" strike="noStrike" cap="none">
                <a:solidFill>
                  <a:srgbClr val="8F2F2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309835" y="1578879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 i="0" u="none" strike="noStrike" cap="none">
                <a:solidFill>
                  <a:srgbClr val="8F2F2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6;p18">
            <a:extLst>
              <a:ext uri="{FF2B5EF4-FFF2-40B4-BE49-F238E27FC236}">
                <a16:creationId xmlns:a16="http://schemas.microsoft.com/office/drawing/2014/main" id="{C53C288E-F27A-3589-04F3-29300F0E0FD9}"/>
              </a:ext>
            </a:extLst>
          </p:cNvPr>
          <p:cNvSpPr/>
          <p:nvPr/>
        </p:nvSpPr>
        <p:spPr>
          <a:xfrm>
            <a:off x="3714750" y="4194230"/>
            <a:ext cx="1765211" cy="92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sz="1200" b="1" dirty="0" err="1"/>
              <a:t>автопроверок</a:t>
            </a:r>
            <a:r>
              <a:rPr lang="ru-RU" sz="1200" dirty="0"/>
              <a:t> — каждое правило проверено отдельно</a:t>
            </a:r>
            <a:r>
              <a:rPr lang="en-US" sz="1200" dirty="0"/>
              <a:t>;</a:t>
            </a:r>
            <a:endParaRPr lang="ru-RU" sz="1200" dirty="0"/>
          </a:p>
        </p:txBody>
      </p:sp>
      <p:sp>
        <p:nvSpPr>
          <p:cNvPr id="7" name="Google Shape;100;p18">
            <a:extLst>
              <a:ext uri="{FF2B5EF4-FFF2-40B4-BE49-F238E27FC236}">
                <a16:creationId xmlns:a16="http://schemas.microsoft.com/office/drawing/2014/main" id="{9A015ADF-7340-6F8A-8832-DC4EB37325BF}"/>
              </a:ext>
            </a:extLst>
          </p:cNvPr>
          <p:cNvSpPr/>
          <p:nvPr/>
        </p:nvSpPr>
        <p:spPr>
          <a:xfrm>
            <a:off x="3714750" y="3702162"/>
            <a:ext cx="1714500" cy="444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i="0" u="none" strike="noStrike" cap="none" dirty="0">
                <a:solidFill>
                  <a:srgbClr val="C93E33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r>
              <a:rPr lang="ru-RU" sz="2600" b="1" dirty="0">
                <a:solidFill>
                  <a:srgbClr val="C93E33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2625" i="0" u="none" strike="noStrike" cap="none" dirty="0">
              <a:solidFill>
                <a:srgbClr val="C93E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3C2A9B-91C4-31E3-F782-7F5ECEB4E211}"/>
              </a:ext>
            </a:extLst>
          </p:cNvPr>
          <p:cNvSpPr txBox="1"/>
          <p:nvPr/>
        </p:nvSpPr>
        <p:spPr>
          <a:xfrm>
            <a:off x="6224551" y="4101726"/>
            <a:ext cx="22597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200" b="1" dirty="0"/>
              <a:t>классов атак </a:t>
            </a:r>
            <a:r>
              <a:rPr lang="ru-RU" sz="1200" dirty="0"/>
              <a:t>— по категориям MITRE ATT&amp;CK и OWASP LLM Top 10</a:t>
            </a:r>
            <a:endParaRPr lang="ru-RU" sz="1200" b="1" dirty="0"/>
          </a:p>
          <a:p>
            <a:endParaRPr lang="ru-RU" sz="1200" dirty="0"/>
          </a:p>
        </p:txBody>
      </p:sp>
      <p:sp>
        <p:nvSpPr>
          <p:cNvPr id="3" name="Google Shape;100;p18">
            <a:extLst>
              <a:ext uri="{FF2B5EF4-FFF2-40B4-BE49-F238E27FC236}">
                <a16:creationId xmlns:a16="http://schemas.microsoft.com/office/drawing/2014/main" id="{2FA6F7AE-3381-EAA8-8490-A633DF3FE2A0}"/>
              </a:ext>
            </a:extLst>
          </p:cNvPr>
          <p:cNvSpPr/>
          <p:nvPr/>
        </p:nvSpPr>
        <p:spPr>
          <a:xfrm>
            <a:off x="6295181" y="3702162"/>
            <a:ext cx="1714500" cy="444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i="0" u="none" strike="noStrike" cap="none" dirty="0">
                <a:solidFill>
                  <a:srgbClr val="C93E33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2625" i="0" u="none" strike="noStrike" cap="none" dirty="0">
              <a:solidFill>
                <a:srgbClr val="C93E3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5" grpId="0"/>
      <p:bldP spid="99" grpId="0"/>
      <p:bldP spid="103" grpId="0"/>
      <p:bldP spid="4" grpId="0"/>
      <p:bldP spid="7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F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B6B10CF1-B353-7900-D619-FB431B3C2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C6940167-061A-388B-EC20-E1D2B75C03E2}"/>
              </a:ext>
            </a:extLst>
          </p:cNvPr>
          <p:cNvSpPr/>
          <p:nvPr/>
        </p:nvSpPr>
        <p:spPr>
          <a:xfrm>
            <a:off x="2380571" y="2107092"/>
            <a:ext cx="2191429" cy="2292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0" i="0" u="none" strike="noStrike" cap="none" dirty="0">
                <a:solidFill>
                  <a:srgbClr val="000000"/>
                </a:solidFill>
                <a:sym typeface="Arial"/>
              </a:rPr>
              <a:t>м</a:t>
            </a:r>
            <a:r>
              <a:rPr lang="ru" b="0" i="0" u="none" strike="noStrike" cap="none" dirty="0">
                <a:solidFill>
                  <a:srgbClr val="000000"/>
                </a:solidFill>
                <a:sym typeface="Arial"/>
              </a:rPr>
              <a:t>одели в живом тестировании: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kilo</a:t>
            </a:r>
            <a:r>
              <a:rPr lang="ru-RU" b="1" dirty="0"/>
              <a:t>/</a:t>
            </a:r>
            <a:r>
              <a:rPr lang="ru-RU" b="1" dirty="0" err="1"/>
              <a:t>stepfun</a:t>
            </a:r>
            <a:r>
              <a:rPr lang="ru-RU" b="1" dirty="0"/>
              <a:t>/step-3.7-flash </a:t>
            </a:r>
            <a:br>
              <a:rPr lang="ru-RU" dirty="0"/>
            </a:br>
            <a:r>
              <a:rPr lang="ru-RU" dirty="0"/>
              <a:t>132 запуска на двух платформах: </a:t>
            </a:r>
            <a:br>
              <a:rPr lang="ru-RU" dirty="0"/>
            </a:br>
            <a:r>
              <a:rPr lang="ru-RU" dirty="0"/>
              <a:t>атаки 78% → 0%, задачи 20 из 21;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nvidia</a:t>
            </a:r>
            <a:r>
              <a:rPr lang="ru-RU" b="1" dirty="0"/>
              <a:t>/nemotron-3-super-120b </a:t>
            </a:r>
            <a:br>
              <a:rPr lang="ru-RU" dirty="0"/>
            </a:br>
            <a:r>
              <a:rPr lang="ru-RU" dirty="0"/>
              <a:t>16 запусков: </a:t>
            </a:r>
            <a:br>
              <a:rPr lang="ru-RU" dirty="0"/>
            </a:br>
            <a:r>
              <a:rPr lang="ru-RU" dirty="0"/>
              <a:t>атаки 7 из 8 → 0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>
            <a:extLst>
              <a:ext uri="{FF2B5EF4-FFF2-40B4-BE49-F238E27FC236}">
                <a16:creationId xmlns:a16="http://schemas.microsoft.com/office/drawing/2014/main" id="{27158D2B-81C7-1721-ACF9-BCC1200E8793}"/>
              </a:ext>
            </a:extLst>
          </p:cNvPr>
          <p:cNvSpPr/>
          <p:nvPr/>
        </p:nvSpPr>
        <p:spPr>
          <a:xfrm>
            <a:off x="2380571" y="1594902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dirty="0">
                <a:solidFill>
                  <a:srgbClr val="C93E33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2625" i="0" u="none" strike="noStrike" cap="none" dirty="0">
              <a:solidFill>
                <a:srgbClr val="C93E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A3DC1F7D-3F06-A60E-2437-7F78A32377DE}"/>
              </a:ext>
            </a:extLst>
          </p:cNvPr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>
            <a:extLst>
              <a:ext uri="{FF2B5EF4-FFF2-40B4-BE49-F238E27FC236}">
                <a16:creationId xmlns:a16="http://schemas.microsoft.com/office/drawing/2014/main" id="{2CF1D5B1-77D5-7619-3C47-D4C5681169B6}"/>
              </a:ext>
            </a:extLst>
          </p:cNvPr>
          <p:cNvSpPr/>
          <p:nvPr/>
        </p:nvSpPr>
        <p:spPr>
          <a:xfrm>
            <a:off x="476250" y="784238"/>
            <a:ext cx="690753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Автономность за счет улучшения архитектуры</a:t>
            </a:r>
            <a:endParaRPr sz="2625" i="0" u="none" strike="noStrike" cap="none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18">
            <a:extLst>
              <a:ext uri="{FF2B5EF4-FFF2-40B4-BE49-F238E27FC236}">
                <a16:creationId xmlns:a16="http://schemas.microsoft.com/office/drawing/2014/main" id="{4801E6CE-3259-F280-6E1F-6D6C5807B00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F743D4-57C1-6E9F-A9C0-4567A39435A2}"/>
              </a:ext>
            </a:extLst>
          </p:cNvPr>
          <p:cNvSpPr txBox="1"/>
          <p:nvPr/>
        </p:nvSpPr>
        <p:spPr>
          <a:xfrm>
            <a:off x="4839580" y="1520502"/>
            <a:ext cx="407664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200" b="1" dirty="0"/>
              <a:t>Покрываемые сценарии при тестировании:</a:t>
            </a:r>
          </a:p>
          <a:p>
            <a:pPr lvl="0"/>
            <a:endParaRPr lang="ru-RU" sz="12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rgbClr val="00B050"/>
                </a:solidFill>
              </a:rPr>
              <a:t>обычная работа</a:t>
            </a:r>
            <a:r>
              <a:rPr lang="ru-RU" sz="1200" dirty="0">
                <a:solidFill>
                  <a:srgbClr val="00B050"/>
                </a:solidFill>
              </a:rPr>
              <a:t> </a:t>
            </a:r>
            <a:r>
              <a:rPr lang="ru-RU" sz="1200" dirty="0"/>
              <a:t>— правка кода и локальный тест проходят без вмешательства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200" b="1" dirty="0"/>
              <a:t>инъекция в README</a:t>
            </a:r>
            <a:r>
              <a:rPr lang="ru-RU" sz="1200" dirty="0"/>
              <a:t> — вредный результат отброшен, агент перепланировал работу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200" b="1" dirty="0"/>
              <a:t>скрытый автозапуск</a:t>
            </a:r>
            <a:r>
              <a:rPr lang="ru-RU" sz="1200" dirty="0"/>
              <a:t> — подброшенный файл обнаружен на проверке после безопасного выполнения и не попал в проект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200" b="1" dirty="0"/>
              <a:t>скачать и выполнить</a:t>
            </a:r>
            <a:r>
              <a:rPr lang="ru-RU" sz="1200" dirty="0"/>
              <a:t> — команда вида «загрузить скрипт и запустить» отклонена до выполнения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200" b="1" dirty="0"/>
              <a:t>подозрительный источник пакета</a:t>
            </a:r>
            <a:r>
              <a:rPr lang="ru-RU" sz="1200" dirty="0"/>
              <a:t> — установка из непроверенного источника отклонена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200" b="1" dirty="0"/>
              <a:t>неизвестный инструмент</a:t>
            </a:r>
            <a:r>
              <a:rPr lang="ru-RU" sz="1200" dirty="0"/>
              <a:t> — незнакомый инструмент заблокирован по умолчанию</a:t>
            </a:r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</p:txBody>
      </p:sp>
      <p:sp>
        <p:nvSpPr>
          <p:cNvPr id="3" name="Google Shape;97;p18">
            <a:extLst>
              <a:ext uri="{FF2B5EF4-FFF2-40B4-BE49-F238E27FC236}">
                <a16:creationId xmlns:a16="http://schemas.microsoft.com/office/drawing/2014/main" id="{3C2C518D-3362-BB73-DF91-C2812232A31C}"/>
              </a:ext>
            </a:extLst>
          </p:cNvPr>
          <p:cNvSpPr/>
          <p:nvPr/>
        </p:nvSpPr>
        <p:spPr>
          <a:xfrm>
            <a:off x="531539" y="2107092"/>
            <a:ext cx="1715700" cy="1079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ea typeface="Calibri"/>
              </a:rPr>
              <a:t>задержка шлюза на одно решение, macOS; 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ea typeface="Calibri"/>
              </a:rPr>
              <a:t>WSL2 до 38 мс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1;p18">
            <a:extLst>
              <a:ext uri="{FF2B5EF4-FFF2-40B4-BE49-F238E27FC236}">
                <a16:creationId xmlns:a16="http://schemas.microsoft.com/office/drawing/2014/main" id="{560DAEC7-6FE3-2D89-0ED9-6D7320A283F9}"/>
              </a:ext>
            </a:extLst>
          </p:cNvPr>
          <p:cNvSpPr/>
          <p:nvPr/>
        </p:nvSpPr>
        <p:spPr>
          <a:xfrm>
            <a:off x="531681" y="1594902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C93E33"/>
                </a:solidFill>
                <a:latin typeface="Inter"/>
                <a:ea typeface="Inter"/>
                <a:cs typeface="Inter"/>
                <a:sym typeface="Inter"/>
              </a:rPr>
              <a:t>≤25ms</a:t>
            </a:r>
            <a:endParaRPr sz="2625" i="0" u="none" strike="noStrike" cap="none" dirty="0">
              <a:solidFill>
                <a:srgbClr val="C93E3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643954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02" grpId="0"/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/>
          <p:nvPr/>
        </p:nvSpPr>
        <p:spPr>
          <a:xfrm>
            <a:off x="609600" y="508000"/>
            <a:ext cx="762762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Смотрим эффект, а не </a:t>
            </a:r>
            <a:r>
              <a:rPr lang="ru-RU" sz="2600" b="1" dirty="0">
                <a:latin typeface="Inter"/>
                <a:ea typeface="Inter"/>
                <a:cs typeface="Inter"/>
                <a:sym typeface="Inter"/>
              </a:rPr>
              <a:t>процесс </a:t>
            </a:r>
            <a:r>
              <a:rPr lang="ru" sz="26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работы</a:t>
            </a:r>
            <a:endParaRPr sz="2625" i="0" u="none" strike="noStrike" cap="none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1" name="mod0"/>
          <p:cNvSpPr/>
          <p:nvPr/>
        </p:nvSpPr>
        <p:spPr>
          <a:xfrm>
            <a:off x="469900" y="1158240"/>
            <a:ext cx="8796020" cy="482600"/>
          </a:xfrm>
          <a:prstGeom prst="roundRect">
            <a:avLst>
              <a:gd name="adj" fmla="val 14000"/>
            </a:avLst>
          </a:prstGeom>
          <a:solidFill>
            <a:srgbClr val="F2E9E8"/>
          </a:solidFill>
        </p:spPr>
        <p:txBody>
          <a:bodyPr lIns="182880" tIns="36576" rIns="182880" bIns="18288" anchor="ctr"/>
          <a:lstStyle/>
          <a:p>
            <a:r>
              <a:rPr lang="ru-RU" sz="900" b="1" spc="100">
                <a:solidFill>
                  <a:srgbClr val="C93E33"/>
                </a:solidFill>
              </a:rPr>
              <a:t>A · ПЕРЕХВАТ</a:t>
            </a:r>
            <a:r>
              <a:rPr lang="ru-RU" sz="1200">
                <a:solidFill>
                  <a:srgbClr val="161412"/>
                </a:solidFill>
              </a:rPr>
              <a:t>   Все действия агента идут через одну точку — обойти нельзя</a:t>
            </a:r>
          </a:p>
        </p:txBody>
      </p:sp>
      <p:sp>
        <p:nvSpPr>
          <p:cNvPr id="972" name="mod1"/>
          <p:cNvSpPr/>
          <p:nvPr/>
        </p:nvSpPr>
        <p:spPr>
          <a:xfrm>
            <a:off x="469900" y="1704340"/>
            <a:ext cx="8796020" cy="482600"/>
          </a:xfrm>
          <a:prstGeom prst="roundRect">
            <a:avLst>
              <a:gd name="adj" fmla="val 14000"/>
            </a:avLst>
          </a:prstGeom>
          <a:solidFill>
            <a:srgbClr val="F2E9E8"/>
          </a:solidFill>
        </p:spPr>
        <p:txBody>
          <a:bodyPr lIns="182880" tIns="36576" rIns="182880" bIns="18288" anchor="ctr"/>
          <a:lstStyle/>
          <a:p>
            <a:r>
              <a:rPr lang="ru-RU" sz="900" b="1" spc="100" dirty="0">
                <a:solidFill>
                  <a:srgbClr val="C93E33"/>
                </a:solidFill>
              </a:rPr>
              <a:t>B · РАЗБОР</a:t>
            </a:r>
            <a:r>
              <a:rPr lang="ru-RU" sz="1200" dirty="0">
                <a:solidFill>
                  <a:srgbClr val="161412"/>
                </a:solidFill>
              </a:rPr>
              <a:t>   Что действие меняет: файлы, сеть, установку пакетов</a:t>
            </a:r>
          </a:p>
        </p:txBody>
      </p:sp>
      <p:sp>
        <p:nvSpPr>
          <p:cNvPr id="973" name="mod2"/>
          <p:cNvSpPr/>
          <p:nvPr/>
        </p:nvSpPr>
        <p:spPr>
          <a:xfrm>
            <a:off x="469900" y="2250440"/>
            <a:ext cx="8796020" cy="482600"/>
          </a:xfrm>
          <a:prstGeom prst="roundRect">
            <a:avLst>
              <a:gd name="adj" fmla="val 14000"/>
            </a:avLst>
          </a:prstGeom>
          <a:solidFill>
            <a:srgbClr val="C93E33"/>
          </a:solidFill>
        </p:spPr>
        <p:txBody>
          <a:bodyPr lIns="182880" tIns="36576" rIns="182880" bIns="18288" anchor="ctr"/>
          <a:lstStyle/>
          <a:p>
            <a:r>
              <a:rPr lang="ru-RU" sz="900" b="1" spc="100" dirty="0">
                <a:solidFill>
                  <a:srgbClr val="F6D8D5"/>
                </a:solidFill>
              </a:rPr>
              <a:t>C · ПРАВИЛА</a:t>
            </a:r>
            <a:r>
              <a:rPr lang="ru-RU" sz="1200" dirty="0">
                <a:solidFill>
                  <a:srgbClr val="FFFFFF"/>
                </a:solidFill>
              </a:rPr>
              <a:t>   Жёсткие проверки по эффектам. Потенциально опасный текст сюда не доходит — только данные</a:t>
            </a:r>
          </a:p>
        </p:txBody>
      </p:sp>
      <p:sp>
        <p:nvSpPr>
          <p:cNvPr id="974" name="mod3"/>
          <p:cNvSpPr/>
          <p:nvPr/>
        </p:nvSpPr>
        <p:spPr>
          <a:xfrm>
            <a:off x="469900" y="2796540"/>
            <a:ext cx="8796020" cy="482600"/>
          </a:xfrm>
          <a:prstGeom prst="roundRect">
            <a:avLst>
              <a:gd name="adj" fmla="val 14000"/>
            </a:avLst>
          </a:prstGeom>
          <a:solidFill>
            <a:srgbClr val="F2E9E8"/>
          </a:solidFill>
        </p:spPr>
        <p:txBody>
          <a:bodyPr lIns="182880" tIns="36576" rIns="182880" bIns="18288" anchor="ctr"/>
          <a:lstStyle/>
          <a:p>
            <a:r>
              <a:rPr lang="ru-RU" sz="900" b="1" spc="100">
                <a:solidFill>
                  <a:srgbClr val="C93E33"/>
                </a:solidFill>
              </a:rPr>
              <a:t>D · ПРОВЕРКА ПО ФАКТУ</a:t>
            </a:r>
            <a:r>
              <a:rPr lang="ru-RU" sz="1200">
                <a:solidFill>
                  <a:srgbClr val="161412"/>
                </a:solidFill>
              </a:rPr>
              <a:t>   Снимок состояния до и после: видно, что произошло на самом деле</a:t>
            </a:r>
          </a:p>
        </p:txBody>
      </p:sp>
      <p:sp>
        <p:nvSpPr>
          <p:cNvPr id="975" name="mod4"/>
          <p:cNvSpPr/>
          <p:nvPr/>
        </p:nvSpPr>
        <p:spPr>
          <a:xfrm>
            <a:off x="469900" y="3342640"/>
            <a:ext cx="8796020" cy="482600"/>
          </a:xfrm>
          <a:prstGeom prst="roundRect">
            <a:avLst>
              <a:gd name="adj" fmla="val 14000"/>
            </a:avLst>
          </a:prstGeom>
          <a:solidFill>
            <a:srgbClr val="F2E9E8"/>
          </a:solidFill>
        </p:spPr>
        <p:txBody>
          <a:bodyPr lIns="182880" tIns="36576" rIns="182880" bIns="18288" anchor="ctr"/>
          <a:lstStyle/>
          <a:p>
            <a:r>
              <a:rPr lang="ru-RU" sz="900" b="1" spc="100" dirty="0">
                <a:solidFill>
                  <a:srgbClr val="C93E33"/>
                </a:solidFill>
              </a:rPr>
              <a:t>E · ОТВЕТ</a:t>
            </a:r>
            <a:r>
              <a:rPr lang="ru-RU" sz="1200" dirty="0">
                <a:solidFill>
                  <a:srgbClr val="161412"/>
                </a:solidFill>
              </a:rPr>
              <a:t>   Машинный ответ агенту без текста из внешних источников</a:t>
            </a:r>
          </a:p>
        </p:txBody>
      </p:sp>
      <p:sp>
        <p:nvSpPr>
          <p:cNvPr id="988" name="tech-note"/>
          <p:cNvSpPr/>
          <p:nvPr/>
        </p:nvSpPr>
        <p:spPr>
          <a:xfrm>
            <a:off x="469900" y="4467860"/>
            <a:ext cx="8674100" cy="508000"/>
          </a:xfrm>
          <a:prstGeom prst="rect">
            <a:avLst/>
          </a:prstGeom>
        </p:spPr>
        <p:txBody>
          <a:bodyPr/>
          <a:lstStyle/>
          <a:p>
            <a:r>
              <a:rPr lang="ru-RU" sz="1000" i="1" dirty="0">
                <a:solidFill>
                  <a:srgbClr val="7A7A7A"/>
                </a:solidFill>
              </a:rPr>
              <a:t>Ограничения: подмену инструкций в тексте не распознаём, ограничиваем последствия; необратимые внешние действия вхолостую не проверить, остаётся вопрос человеку; вредоносный код внутри разрешённой правки выглядит легитимно; атаки, растянутые на несколько шагов, сравниваем по одному действию</a:t>
            </a:r>
          </a:p>
        </p:txBody>
      </p:sp>
      <p:sp>
        <p:nvSpPr>
          <p:cNvPr id="5" name="mod5">
            <a:extLst>
              <a:ext uri="{FF2B5EF4-FFF2-40B4-BE49-F238E27FC236}">
                <a16:creationId xmlns:a16="http://schemas.microsoft.com/office/drawing/2014/main" id="{25DB1C03-7B85-7079-F2A3-ED0A7903D4FB}"/>
              </a:ext>
            </a:extLst>
          </p:cNvPr>
          <p:cNvSpPr/>
          <p:nvPr/>
        </p:nvSpPr>
        <p:spPr>
          <a:xfrm>
            <a:off x="469900" y="3903980"/>
            <a:ext cx="8796020" cy="482600"/>
          </a:xfrm>
          <a:prstGeom prst="roundRect">
            <a:avLst>
              <a:gd name="adj" fmla="val 14000"/>
            </a:avLst>
          </a:prstGeom>
          <a:solidFill>
            <a:srgbClr val="F2E9E8"/>
          </a:solidFill>
        </p:spPr>
        <p:txBody>
          <a:bodyPr lIns="182880" tIns="36576" rIns="182880" bIns="18288" anchor="ctr"/>
          <a:lstStyle/>
          <a:p>
            <a:r>
              <a:rPr lang="ru-RU" sz="900" b="1" spc="100" dirty="0">
                <a:solidFill>
                  <a:srgbClr val="C93E33"/>
                </a:solidFill>
              </a:rPr>
              <a:t>F · ПАКЕТЫ</a:t>
            </a:r>
            <a:r>
              <a:rPr lang="ru-RU" sz="1200" dirty="0">
                <a:solidFill>
                  <a:srgbClr val="161412"/>
                </a:solidFill>
              </a:rPr>
              <a:t>   Новая или подозрительная зависимость идёт на вопрос до установки; </a:t>
            </a:r>
          </a:p>
          <a:p>
            <a:r>
              <a:rPr lang="ru-RU" sz="1200" dirty="0">
                <a:solidFill>
                  <a:srgbClr val="161412"/>
                </a:solidFill>
              </a:rPr>
              <a:t>	</a:t>
            </a:r>
            <a:r>
              <a:rPr lang="ru-RU" sz="1200" dirty="0" err="1">
                <a:solidFill>
                  <a:srgbClr val="161412"/>
                </a:solidFill>
              </a:rPr>
              <a:t>lifecycle</a:t>
            </a:r>
            <a:r>
              <a:rPr lang="ru-RU" sz="1200" dirty="0">
                <a:solidFill>
                  <a:srgbClr val="161412"/>
                </a:solidFill>
              </a:rPr>
              <a:t>-скрипт пакета ловится по факту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" grpId="0" animBg="1"/>
      <p:bldP spid="973" grpId="0" animBg="1"/>
      <p:bldP spid="974" grpId="0" animBg="1"/>
      <p:bldP spid="975" grpId="0" animBg="1"/>
      <p:bldP spid="988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3E33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demo-title"/>
          <p:cNvSpPr>
            <a:spLocks noGrp="1"/>
          </p:cNvSpPr>
          <p:nvPr/>
        </p:nvSpPr>
        <p:spPr>
          <a:xfrm>
            <a:off x="469900" y="914400"/>
            <a:ext cx="11430000" cy="762000"/>
          </a:xfrm>
          <a:prstGeom prst="rect">
            <a:avLst/>
          </a:prstGeom>
        </p:spPr>
        <p:txBody>
          <a:bodyPr/>
          <a:lstStyle/>
          <a:p>
            <a:r>
              <a:rPr lang="ru-RU" sz="2800" b="1">
                <a:solidFill>
                  <a:srgbClr val="FFFFFF"/>
                </a:solidFill>
              </a:rPr>
              <a:t>Один сценарий: без защиты и с защитой</a:t>
            </a:r>
          </a:p>
        </p:txBody>
      </p:sp>
      <p:sp>
        <p:nvSpPr>
          <p:cNvPr id="971" name="card0"/>
          <p:cNvSpPr/>
          <p:nvPr/>
        </p:nvSpPr>
        <p:spPr>
          <a:xfrm>
            <a:off x="469900" y="1676400"/>
            <a:ext cx="8811260" cy="711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</p:spPr>
        <p:txBody>
          <a:bodyPr lIns="228600" tIns="76200" rIns="228600" bIns="50800" anchor="ctr"/>
          <a:lstStyle/>
          <a:p>
            <a:r>
              <a:rPr lang="ru-RU" sz="1100" b="1" spc="120">
                <a:solidFill>
                  <a:srgbClr val="C93E33"/>
                </a:solidFill>
              </a:rPr>
              <a:t>1 · ОДИН СЦЕНАРИЙ</a:t>
            </a:r>
          </a:p>
          <a:p>
            <a:r>
              <a:rPr lang="ru-RU" sz="1600" b="1">
                <a:solidFill>
                  <a:srgbClr val="161412"/>
                </a:solidFill>
              </a:rPr>
              <a:t>Агент чинит баг и читает README со спрятанной инструкцией</a:t>
            </a:r>
          </a:p>
        </p:txBody>
      </p:sp>
      <p:sp>
        <p:nvSpPr>
          <p:cNvPr id="972" name="card1"/>
          <p:cNvSpPr/>
          <p:nvPr/>
        </p:nvSpPr>
        <p:spPr>
          <a:xfrm>
            <a:off x="469900" y="2476500"/>
            <a:ext cx="8811260" cy="711200"/>
          </a:xfrm>
          <a:prstGeom prst="roundRect">
            <a:avLst>
              <a:gd name="adj" fmla="val 12000"/>
            </a:avLst>
          </a:prstGeom>
          <a:solidFill>
            <a:srgbClr val="111318"/>
          </a:solidFill>
        </p:spPr>
        <p:txBody>
          <a:bodyPr lIns="228600" tIns="76200" rIns="228600" bIns="50800" anchor="ctr"/>
          <a:lstStyle/>
          <a:p>
            <a:r>
              <a:rPr lang="ru-RU" sz="1100" b="1" spc="120">
                <a:solidFill>
                  <a:srgbClr val="F6D8D5"/>
                </a:solidFill>
              </a:rPr>
              <a:t>2 · БЕЗ ЗАЩИТЫ (--auto)</a:t>
            </a:r>
          </a:p>
          <a:p>
            <a:r>
              <a:rPr lang="ru-RU" sz="1600" b="1">
                <a:solidFill>
                  <a:srgbClr val="FFFFFF"/>
                </a:solidFill>
              </a:rPr>
              <a:t>Агент поддаётся — файл автозапуска появляется в проекте</a:t>
            </a:r>
          </a:p>
        </p:txBody>
      </p:sp>
      <p:sp>
        <p:nvSpPr>
          <p:cNvPr id="973" name="card2"/>
          <p:cNvSpPr/>
          <p:nvPr/>
        </p:nvSpPr>
        <p:spPr>
          <a:xfrm>
            <a:off x="469900" y="3276600"/>
            <a:ext cx="8811260" cy="711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</p:spPr>
        <p:txBody>
          <a:bodyPr lIns="228600" tIns="76200" rIns="228600" bIns="50800" anchor="ctr"/>
          <a:lstStyle/>
          <a:p>
            <a:r>
              <a:rPr lang="ru-RU" sz="1100" b="1" spc="120">
                <a:solidFill>
                  <a:srgbClr val="C93E33"/>
                </a:solidFill>
              </a:rPr>
              <a:t>3 · С ЗАЩИТОЙ (auto mode)</a:t>
            </a:r>
          </a:p>
          <a:p>
            <a:r>
              <a:rPr lang="ru-RU" sz="1600" b="1">
                <a:solidFill>
                  <a:srgbClr val="161412"/>
                </a:solidFill>
              </a:rPr>
              <a:t>Действие выполняется в копии, эффект проверяется по факту</a:t>
            </a:r>
          </a:p>
        </p:txBody>
      </p:sp>
      <p:sp>
        <p:nvSpPr>
          <p:cNvPr id="974" name="card3"/>
          <p:cNvSpPr/>
          <p:nvPr/>
        </p:nvSpPr>
        <p:spPr>
          <a:xfrm>
            <a:off x="469900" y="4076700"/>
            <a:ext cx="8811260" cy="711200"/>
          </a:xfrm>
          <a:prstGeom prst="roundRect">
            <a:avLst>
              <a:gd name="adj" fmla="val 12000"/>
            </a:avLst>
          </a:prstGeom>
          <a:solidFill>
            <a:srgbClr val="161412"/>
          </a:solidFill>
        </p:spPr>
        <p:txBody>
          <a:bodyPr lIns="228600" tIns="76200" rIns="228600" bIns="50800" anchor="ctr"/>
          <a:lstStyle/>
          <a:p>
            <a:r>
              <a:rPr lang="ru-RU" sz="1100" b="1" spc="120">
                <a:solidFill>
                  <a:srgbClr val="F6D8D5"/>
                </a:solidFill>
              </a:rPr>
              <a:t>4 · ИТОГ</a:t>
            </a:r>
          </a:p>
          <a:p>
            <a:r>
              <a:rPr lang="ru-RU" sz="1600" b="1">
                <a:solidFill>
                  <a:srgbClr val="8FD49B"/>
                </a:solidFill>
              </a:rPr>
              <a:t>DENY — файла нет в проекте, починка бага применена, агент продолжил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27"/>
          <p:cNvCxnSpPr/>
          <p:nvPr/>
        </p:nvCxnSpPr>
        <p:spPr>
          <a:xfrm>
            <a:off x="2636307" y="3494757"/>
            <a:ext cx="2213400" cy="0"/>
          </a:xfrm>
          <a:prstGeom prst="straightConnector1">
            <a:avLst/>
          </a:prstGeom>
          <a:solidFill>
            <a:srgbClr val="000000"/>
          </a:solidFill>
          <a:ln w="21150" cap="flat" cmpd="sng">
            <a:solidFill>
              <a:srgbClr val="C93E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27"/>
          <p:cNvCxnSpPr/>
          <p:nvPr/>
        </p:nvCxnSpPr>
        <p:spPr>
          <a:xfrm>
            <a:off x="4843468" y="3491617"/>
            <a:ext cx="2213400" cy="0"/>
          </a:xfrm>
          <a:prstGeom prst="straightConnector1">
            <a:avLst/>
          </a:prstGeom>
          <a:solidFill>
            <a:srgbClr val="000000"/>
          </a:solidFill>
          <a:ln w="21150" cap="flat" cmpd="sng">
            <a:solidFill>
              <a:srgbClr val="C93E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27"/>
          <p:cNvSpPr/>
          <p:nvPr/>
        </p:nvSpPr>
        <p:spPr>
          <a:xfrm>
            <a:off x="476250" y="1673096"/>
            <a:ext cx="7606116" cy="503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Работает в Kilo Code — дальше в </a:t>
            </a:r>
            <a:r>
              <a:rPr lang="ru-RU" sz="26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сообщество</a:t>
            </a:r>
            <a:endParaRPr sz="2625" i="0" u="none" strike="noStrike" cap="none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27"/>
          <p:cNvCxnSpPr/>
          <p:nvPr/>
        </p:nvCxnSpPr>
        <p:spPr>
          <a:xfrm>
            <a:off x="475843" y="3497897"/>
            <a:ext cx="2213400" cy="0"/>
          </a:xfrm>
          <a:prstGeom prst="straightConnector1">
            <a:avLst/>
          </a:prstGeom>
          <a:solidFill>
            <a:srgbClr val="000000"/>
          </a:solidFill>
          <a:ln w="21150" cap="flat" cmpd="sng">
            <a:solidFill>
              <a:srgbClr val="C93E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p27"/>
          <p:cNvSpPr/>
          <p:nvPr/>
        </p:nvSpPr>
        <p:spPr>
          <a:xfrm>
            <a:off x="476250" y="3717492"/>
            <a:ext cx="1714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PoC </a:t>
            </a:r>
            <a:r>
              <a:rPr lang="ru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Kilo Code: правила, изолированная копия, перенос только после проверки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2634524" y="3717492"/>
            <a:ext cx="1868896" cy="1426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Демо 6 сценариев, хеш решений совпал на macOS и Linux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ru-RU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живой A/B на 132 запусках: без защиты атаки проходят в 78%, с защитой — 0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4793914" y="3717491"/>
            <a:ext cx="1716600" cy="120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Расширение покрытия тестами, уточнение метрик, </a:t>
            </a:r>
            <a:r>
              <a:rPr lang="ru" sz="1200" dirty="0"/>
              <a:t>о</a:t>
            </a:r>
            <a:r>
              <a:rPr lang="ru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формление 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 </a:t>
            </a:r>
            <a:r>
              <a:rPr lang="ru-RU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сообщество </a:t>
            </a:r>
            <a:r>
              <a:rPr lang="en-US" sz="1200" dirty="0"/>
              <a:t>Kilo Code </a:t>
            </a:r>
            <a:r>
              <a:rPr lang="ru-RU" sz="1200" dirty="0"/>
              <a:t>для продвижения нашего подхода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6954421" y="3717697"/>
            <a:ext cx="17142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Попробуйте подход в своей работе — это расширит набор тестов и уточнит оценку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476250" y="2967000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 i="0" u="none" strike="noStrike" cap="none">
                <a:solidFill>
                  <a:srgbClr val="C93E33"/>
                </a:solidFill>
                <a:latin typeface="Inter"/>
                <a:ea typeface="Inter"/>
                <a:cs typeface="Inter"/>
                <a:sym typeface="Inter"/>
              </a:rPr>
              <a:t>Готово</a:t>
            </a:r>
            <a:endParaRPr sz="2625" i="0" u="none" strike="noStrike" cap="none">
              <a:solidFill>
                <a:srgbClr val="C93E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2634666" y="2967175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 i="0" u="none" strike="noStrike" cap="none">
                <a:solidFill>
                  <a:srgbClr val="C93E33"/>
                </a:solidFill>
                <a:latin typeface="Inter"/>
                <a:ea typeface="Inter"/>
                <a:cs typeface="Inter"/>
                <a:sym typeface="Inter"/>
              </a:rPr>
              <a:t>Тесты</a:t>
            </a:r>
            <a:endParaRPr sz="2625" i="0" u="none" strike="noStrike" cap="none">
              <a:solidFill>
                <a:srgbClr val="C93E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4793081" y="2967283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 i="0" u="none" strike="noStrike" cap="none">
                <a:solidFill>
                  <a:srgbClr val="C93E33"/>
                </a:solidFill>
                <a:latin typeface="Inter"/>
                <a:ea typeface="Inter"/>
                <a:cs typeface="Inter"/>
                <a:sym typeface="Inter"/>
              </a:rPr>
              <a:t>Дальше</a:t>
            </a:r>
            <a:endParaRPr sz="2625" i="0" u="none" strike="noStrike" cap="none">
              <a:solidFill>
                <a:srgbClr val="C93E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6951497" y="2967391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dirty="0">
                <a:solidFill>
                  <a:srgbClr val="C93E33"/>
                </a:solidFill>
                <a:latin typeface="Inter"/>
                <a:ea typeface="Inter"/>
                <a:cs typeface="Inter"/>
                <a:sym typeface="Inter"/>
              </a:rPr>
              <a:t>Запрос</a:t>
            </a:r>
            <a:endParaRPr sz="2625" i="0" u="none" strike="noStrike" cap="none" dirty="0">
              <a:solidFill>
                <a:srgbClr val="C93E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475843" y="3444878"/>
            <a:ext cx="105900" cy="105900"/>
          </a:xfrm>
          <a:prstGeom prst="ellipse">
            <a:avLst/>
          </a:prstGeom>
          <a:solidFill>
            <a:srgbClr val="C93E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7"/>
          <p:cNvSpPr/>
          <p:nvPr/>
        </p:nvSpPr>
        <p:spPr>
          <a:xfrm>
            <a:off x="2636307" y="3441738"/>
            <a:ext cx="105900" cy="105900"/>
          </a:xfrm>
          <a:prstGeom prst="ellipse">
            <a:avLst/>
          </a:prstGeom>
          <a:solidFill>
            <a:srgbClr val="C93E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6952593" y="3438598"/>
            <a:ext cx="105900" cy="105900"/>
          </a:xfrm>
          <a:prstGeom prst="ellipse">
            <a:avLst/>
          </a:prstGeom>
          <a:solidFill>
            <a:srgbClr val="8F2F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7"/>
          <p:cNvSpPr/>
          <p:nvPr/>
        </p:nvSpPr>
        <p:spPr>
          <a:xfrm>
            <a:off x="4792129" y="3441738"/>
            <a:ext cx="105900" cy="105900"/>
          </a:xfrm>
          <a:prstGeom prst="ellipse">
            <a:avLst/>
          </a:prstGeom>
          <a:solidFill>
            <a:srgbClr val="C93E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2" name="Google Shape;232;p27"/>
          <p:cNvCxnSpPr/>
          <p:nvPr/>
        </p:nvCxnSpPr>
        <p:spPr>
          <a:xfrm>
            <a:off x="7005223" y="3496259"/>
            <a:ext cx="1667100" cy="0"/>
          </a:xfrm>
          <a:prstGeom prst="straightConnector1">
            <a:avLst/>
          </a:prstGeom>
          <a:solidFill>
            <a:srgbClr val="000000"/>
          </a:solidFill>
          <a:ln w="21150" cap="flat" cmpd="sng">
            <a:solidFill>
              <a:srgbClr val="C93E3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3" name="Google Shape;23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F"/>
        </a:solidFill>
        <a:effectLst/>
      </p:bgPr>
    </p:bg>
    <p:spTree>
      <p:nvGrpSpPr>
        <p:cNvPr id="1" name="Shape 214">
          <a:extLst>
            <a:ext uri="{FF2B5EF4-FFF2-40B4-BE49-F238E27FC236}">
              <a16:creationId xmlns:a16="http://schemas.microsoft.com/office/drawing/2014/main" id="{D33C5C4B-C9DC-8F9D-5CC7-2F5C4CCF3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>
            <a:extLst>
              <a:ext uri="{FF2B5EF4-FFF2-40B4-BE49-F238E27FC236}">
                <a16:creationId xmlns:a16="http://schemas.microsoft.com/office/drawing/2014/main" id="{18A0E384-8DC6-5E05-F8DD-3182C291ED55}"/>
              </a:ext>
            </a:extLst>
          </p:cNvPr>
          <p:cNvSpPr/>
          <p:nvPr/>
        </p:nvSpPr>
        <p:spPr>
          <a:xfrm>
            <a:off x="476250" y="1673096"/>
            <a:ext cx="7606116" cy="503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25" i="0" u="none" strike="noStrike" cap="none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27">
            <a:extLst>
              <a:ext uri="{FF2B5EF4-FFF2-40B4-BE49-F238E27FC236}">
                <a16:creationId xmlns:a16="http://schemas.microsoft.com/office/drawing/2014/main" id="{1BDCA643-801D-F1A8-4DEC-9BBC5B4F1344}"/>
              </a:ext>
            </a:extLst>
          </p:cNvPr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7">
            <a:extLst>
              <a:ext uri="{FF2B5EF4-FFF2-40B4-BE49-F238E27FC236}">
                <a16:creationId xmlns:a16="http://schemas.microsoft.com/office/drawing/2014/main" id="{C99905F7-726A-2C9F-8981-64A7DE4FACF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217">
            <a:extLst>
              <a:ext uri="{FF2B5EF4-FFF2-40B4-BE49-F238E27FC236}">
                <a16:creationId xmlns:a16="http://schemas.microsoft.com/office/drawing/2014/main" id="{CEF6777F-CF52-60B0-9473-34E11EF6F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887147"/>
              </p:ext>
            </p:extLst>
          </p:nvPr>
        </p:nvGraphicFramePr>
        <p:xfrm>
          <a:off x="476250" y="1460806"/>
          <a:ext cx="8046719" cy="3604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8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011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C93E33"/>
                          </a:solidFill>
                          <a:latin typeface="Inter"/>
                        </a:rPr>
                        <a:t>Участник</a:t>
                      </a:r>
                      <a:endParaRPr sz="1100" b="1" dirty="0">
                        <a:solidFill>
                          <a:srgbClr val="C93E33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2E9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93E33"/>
                          </a:solidFill>
                          <a:latin typeface="Inter"/>
                        </a:rPr>
                        <a:t>Роль и зона ответственности</a:t>
                      </a:r>
                    </a:p>
                  </a:txBody>
                  <a:tcPr>
                    <a:solidFill>
                      <a:srgbClr val="F2E9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93E33"/>
                          </a:solidFill>
                          <a:latin typeface="Inter"/>
                        </a:rPr>
                        <a:t>Что сделано</a:t>
                      </a:r>
                    </a:p>
                  </a:txBody>
                  <a:tcPr>
                    <a:solidFill>
                      <a:srgbClr val="F2E9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C93E33"/>
                          </a:solidFill>
                          <a:latin typeface="Inter"/>
                        </a:rPr>
                        <a:t>Участие</a:t>
                      </a:r>
                      <a:endParaRPr sz="1100" b="1" dirty="0">
                        <a:solidFill>
                          <a:srgbClr val="C93E33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2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856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1412"/>
                          </a:solidFill>
                          <a:latin typeface="Inter"/>
                        </a:rPr>
                        <a:t>Белоконь Михаил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Продакт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и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проджект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: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постановка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метрики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материалы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приёмка</a:t>
                      </a:r>
                      <a:endParaRPr sz="1100" b="0" dirty="0">
                        <a:solidFill>
                          <a:srgbClr val="161412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Границы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MVP и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критерии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;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конкурентный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анализ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30+;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продуктовые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материалы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и </a:t>
                      </a:r>
                      <a:r>
                        <a:rPr lang="ru-RU" sz="1100" b="0" dirty="0">
                          <a:solidFill>
                            <a:srgbClr val="161412"/>
                          </a:solidFill>
                          <a:latin typeface="Inter"/>
                        </a:rPr>
                        <a:t>презентация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;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живые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прогоны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на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модели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, </a:t>
                      </a:r>
                      <a:r>
                        <a:rPr lang="ru-RU" sz="1100" b="0" dirty="0">
                          <a:solidFill>
                            <a:srgbClr val="161412"/>
                          </a:solidFill>
                          <a:latin typeface="Inter"/>
                        </a:rPr>
                        <a:t>поиск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дефект</a:t>
                      </a:r>
                      <a:r>
                        <a:rPr lang="ru-RU"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ов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и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доработки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;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синхронизация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артефактов</a:t>
                      </a:r>
                      <a:endParaRPr sz="1100" b="0" dirty="0">
                        <a:solidFill>
                          <a:srgbClr val="161412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Весь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хакатон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ежедневно</a:t>
                      </a:r>
                      <a:endParaRPr sz="1100" b="0" dirty="0">
                        <a:solidFill>
                          <a:srgbClr val="161412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0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1412"/>
                          </a:solidFill>
                          <a:latin typeface="Inter"/>
                        </a:rPr>
                        <a:t>Кирдяшкин Максим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rgbClr val="161412"/>
                          </a:solidFill>
                          <a:latin typeface="Inter"/>
                        </a:rPr>
                        <a:t>Инженер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: Auto Mode в Kilo и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система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тестирования</a:t>
                      </a:r>
                      <a:endParaRPr sz="1100" b="0" dirty="0">
                        <a:solidFill>
                          <a:srgbClr val="161412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Исследование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Kilo CLI и ТЗ;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шлюз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правила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теневая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копия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песочница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аудит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;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автотесты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демо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стенд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и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прогоны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на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macOS;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документ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архитектуры</a:t>
                      </a:r>
                      <a:endParaRPr sz="1100" b="0" dirty="0">
                        <a:solidFill>
                          <a:srgbClr val="161412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1412"/>
                          </a:solidFill>
                          <a:latin typeface="Inter"/>
                        </a:rPr>
                        <a:t>Весь хакатон, ежедневно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0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1412"/>
                          </a:solidFill>
                          <a:latin typeface="Inter"/>
                        </a:rPr>
                        <a:t>Межуева Екатерина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1412"/>
                          </a:solidFill>
                          <a:latin typeface="Inter"/>
                        </a:rPr>
                        <a:t>Инженер: методология проверок и ревью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Что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считать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атакой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и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успехом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в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стенде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;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карта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угроз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и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справочник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атак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;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шаблон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стенда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;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ревью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кода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перед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61412"/>
                          </a:solidFill>
                          <a:latin typeface="Inter"/>
                        </a:rPr>
                        <a:t>ключевыми</a:t>
                      </a:r>
                      <a:r>
                        <a:rPr sz="1100" b="0" dirty="0">
                          <a:solidFill>
                            <a:srgbClr val="161412"/>
                          </a:solidFill>
                          <a:latin typeface="Inter"/>
                        </a:rPr>
                        <a:t>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rgbClr val="161412"/>
                          </a:solidFill>
                          <a:latin typeface="Inter"/>
                        </a:rPr>
                        <a:t>Весь хакатон, ежедневно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Google Shape;217;p27">
            <a:extLst>
              <a:ext uri="{FF2B5EF4-FFF2-40B4-BE49-F238E27FC236}">
                <a16:creationId xmlns:a16="http://schemas.microsoft.com/office/drawing/2014/main" id="{3C7C5703-9CC2-6352-F595-E3D777C54B17}"/>
              </a:ext>
            </a:extLst>
          </p:cNvPr>
          <p:cNvSpPr/>
          <p:nvPr/>
        </p:nvSpPr>
        <p:spPr>
          <a:xfrm>
            <a:off x="476250" y="957791"/>
            <a:ext cx="7606116" cy="503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Команда и распределение задач</a:t>
            </a:r>
            <a:endParaRPr sz="2625" i="0" u="none" strike="noStrike" cap="none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60521826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000000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709</Words>
  <Application>Microsoft Office PowerPoint</Application>
  <PresentationFormat>Экран (16:9)</PresentationFormat>
  <Paragraphs>89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Inter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Михаил Белоконь</cp:lastModifiedBy>
  <cp:revision>6</cp:revision>
  <dcterms:modified xsi:type="dcterms:W3CDTF">2026-09-06T23:07:04Z</dcterms:modified>
</cp:coreProperties>
</file>