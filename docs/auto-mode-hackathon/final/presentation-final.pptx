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1" r:id="rId1"/>
  </p:sldMasterIdLst>
  <p:notesMasterIdLst>
    <p:notesMasterId r:id="rId9"/>
  </p:notesMasterIdLst>
  <p:sldIdLst>
    <p:sldId id="256" r:id="rId2"/>
    <p:sldId id="257" r:id="rId3"/>
    <p:sldId id="261" r:id="rId4"/>
    <p:sldId id="259" r:id="rId5"/>
    <p:sldId id="258" r:id="rId6"/>
    <p:sldId id="260" r:id="rId7"/>
    <p:sldId id="263" r:id="rId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93E33"/>
    <a:srgbClr val="FFF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99" autoAdjust="0"/>
    <p:restoredTop sz="94660"/>
  </p:normalViewPr>
  <p:slideViewPr>
    <p:cSldViewPr snapToGrid="0">
      <p:cViewPr>
        <p:scale>
          <a:sx n="66" d="100"/>
          <a:sy n="66" d="100"/>
        </p:scale>
        <p:origin x="1954" y="94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249cb922a79_1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0" name="Google Shape;70;g249cb922a79_1_11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g249cb922a79_1_11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49cb922a79_1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" name="Google Shape;90;g249cb922a79_1_29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1" name="Google Shape;91;g249cb922a79_1_29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C16BE681-CD6C-4648-ACA6-F61DABAAB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49cb922a79_1_29:notes">
            <a:extLst>
              <a:ext uri="{FF2B5EF4-FFF2-40B4-BE49-F238E27FC236}">
                <a16:creationId xmlns:a16="http://schemas.microsoft.com/office/drawing/2014/main" id="{38EFAC85-15D8-3DFC-E52B-9802B6313A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" name="Google Shape;90;g249cb922a79_1_29:notes">
            <a:extLst>
              <a:ext uri="{FF2B5EF4-FFF2-40B4-BE49-F238E27FC236}">
                <a16:creationId xmlns:a16="http://schemas.microsoft.com/office/drawing/2014/main" id="{8725AE7F-B989-6B72-73EA-6C472A9728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1" name="Google Shape;91;g249cb922a79_1_29:notes">
            <a:extLst>
              <a:ext uri="{FF2B5EF4-FFF2-40B4-BE49-F238E27FC236}">
                <a16:creationId xmlns:a16="http://schemas.microsoft.com/office/drawing/2014/main" id="{2374C642-470C-666C-FCD7-B87C252FE16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220520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49cb922a79_1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5" name="Google Shape;145;g249cb922a79_1_81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g249cb922a79_1_81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249cb922a79_1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2" name="Google Shape;212;g249cb922a79_1_143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13" name="Google Shape;213;g249cb922a79_1_143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6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>
          <a:extLst>
            <a:ext uri="{FF2B5EF4-FFF2-40B4-BE49-F238E27FC236}">
              <a16:creationId xmlns:a16="http://schemas.microsoft.com/office/drawing/2014/main" id="{C63810EA-6F68-E44D-9CCB-DA685D47D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249cb922a79_1_143:notes">
            <a:extLst>
              <a:ext uri="{FF2B5EF4-FFF2-40B4-BE49-F238E27FC236}">
                <a16:creationId xmlns:a16="http://schemas.microsoft.com/office/drawing/2014/main" id="{79187137-D924-4DEF-F691-D247B36CA8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2" name="Google Shape;212;g249cb922a79_1_143:notes">
            <a:extLst>
              <a:ext uri="{FF2B5EF4-FFF2-40B4-BE49-F238E27FC236}">
                <a16:creationId xmlns:a16="http://schemas.microsoft.com/office/drawing/2014/main" id="{3554DB8A-E41A-4008-52E0-D623223212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13" name="Google Shape;213;g249cb922a79_1_143:notes">
            <a:extLst>
              <a:ext uri="{FF2B5EF4-FFF2-40B4-BE49-F238E27FC236}">
                <a16:creationId xmlns:a16="http://schemas.microsoft.com/office/drawing/2014/main" id="{07BF11E2-A2DC-6649-8B06-3DABA6F6203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8512980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 1">
  <p:cSld name="Титульный слайд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4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4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4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5" name="Google Shape;55;p14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93E33"/>
        </a:solidFill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/>
          <p:nvPr/>
        </p:nvSpPr>
        <p:spPr>
          <a:xfrm>
            <a:off x="476250" y="2258372"/>
            <a:ext cx="67395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38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Auto mode для Kilo Code</a:t>
            </a:r>
            <a:endParaRPr sz="3800" i="0" u="none" strike="noStrike" cap="non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800" i="0" u="none" strike="noStrike" cap="non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4" name="Google Shape;74;p16"/>
          <p:cNvSpPr/>
          <p:nvPr/>
        </p:nvSpPr>
        <p:spPr>
          <a:xfrm>
            <a:off x="476250" y="3569481"/>
            <a:ext cx="4095750" cy="8501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0" i="0" u="none" strike="noStrike" cap="none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Команда</a:t>
            </a:r>
            <a:r>
              <a:rPr lang="ru" sz="1200" b="1" i="0" u="none" strike="noStrike" cap="none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: «Здесь могла быть реклама вашего банка»</a:t>
            </a: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" sz="1200" b="1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Продуктовый менеджер: Белоконь Михаил</a:t>
            </a: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Инженеры продукта: Кирдяшкин Максим, Межуева Екатерина</a:t>
            </a:r>
            <a:endParaRPr lang="ru" sz="1200" dirty="0">
              <a:solidFill>
                <a:schemeClr val="bg1"/>
              </a:solidFill>
              <a:ea typeface="Calibri"/>
            </a:endParaRPr>
          </a:p>
        </p:txBody>
      </p:sp>
      <p:pic>
        <p:nvPicPr>
          <p:cNvPr id="75" name="Google Shape;75;p16" descr="https://pitch-assets-ccb95893-de3f-4266-973c-20049231b248.s3.eu-west-1.amazonaws.com/0e85026a-008d-4f73-b555-d556e9b7acd4?pitch-bytes=4898&amp;pitch-content-type=image%2Fsvg%2Bxm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174304" y="3903121"/>
            <a:ext cx="707491" cy="191370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6" descr="https://pitch-assets-ccb95893-de3f-4266-973c-20049231b248.s3.eu-west-1.amazonaws.com/efa381c9-5c10-4380-abee-d4f3f03ddc9d?pitch-bytes=3032&amp;pitch-content-type=image%2Fsvg%2Bxml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407400" y="4419600"/>
            <a:ext cx="241300" cy="368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01422" y="307125"/>
            <a:ext cx="1673574" cy="4625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6FF"/>
        </a:solidFill>
        <a:effectLst/>
      </p:bgPr>
    </p:bg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8"/>
          <p:cNvSpPr/>
          <p:nvPr/>
        </p:nvSpPr>
        <p:spPr>
          <a:xfrm>
            <a:off x="5074073" y="1581090"/>
            <a:ext cx="3873000" cy="8062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rPr lang="ru-RU" sz="1200" b="1" dirty="0"/>
              <a:t>Проверка действий ИИ-агента</a:t>
            </a:r>
            <a:r>
              <a:rPr lang="ru" sz="12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ru-RU" sz="1200" dirty="0"/>
              <a:t>потенциально опасное действие сначала выполняется в безопасной среде, фактические изменения сверяются с заявленным списком, и в проект попадает только проверенное</a:t>
            </a:r>
            <a:endParaRPr sz="120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8"/>
          <p:cNvSpPr/>
          <p:nvPr/>
        </p:nvSpPr>
        <p:spPr>
          <a:xfrm>
            <a:off x="476250" y="1578879"/>
            <a:ext cx="3869400" cy="14385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Проблема:</a:t>
            </a:r>
            <a:r>
              <a:rPr lang="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" sz="1200" dirty="0"/>
          </a:p>
          <a:p>
            <a:pPr marL="171450" marR="0" lvl="0" indent="-17145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подтверждать каждый шаг утомительно, человек начинает разрешать </a:t>
            </a:r>
            <a:r>
              <a:rPr lang="ru-RU" sz="12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не глядя</a:t>
            </a:r>
          </a:p>
          <a:p>
            <a:pPr marL="171450" marR="0" lvl="0" indent="-17145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разрешить всё сразу </a:t>
            </a:r>
            <a:r>
              <a:rPr lang="ru-RU" sz="12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опасно</a:t>
            </a:r>
            <a:r>
              <a:rPr lang="ru-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 украденные ключи, удалённые данные</a:t>
            </a: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" sz="120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8"/>
          <p:cNvSpPr/>
          <p:nvPr/>
        </p:nvSpPr>
        <p:spPr>
          <a:xfrm>
            <a:off x="5071521" y="2587565"/>
            <a:ext cx="3873600" cy="820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Ценность:</a:t>
            </a:r>
            <a:r>
              <a:rPr lang="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автономность работы агента без цены в виде инцидента — обычная работа без вопросов, вредное не проходит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8"/>
          <p:cNvSpPr/>
          <p:nvPr/>
        </p:nvSpPr>
        <p:spPr>
          <a:xfrm>
            <a:off x="369158" y="4193608"/>
            <a:ext cx="1880000" cy="66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класс атак закрыт </a:t>
            </a:r>
            <a:r>
              <a:rPr lang="ru" sz="12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полностью</a:t>
            </a:r>
            <a:r>
              <a:rPr lang="ru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 подброшенный автозапуск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8"/>
          <p:cNvSpPr/>
          <p:nvPr/>
        </p:nvSpPr>
        <p:spPr>
          <a:xfrm>
            <a:off x="366235" y="3681427"/>
            <a:ext cx="171450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600" b="1" i="0" u="none" strike="noStrike" cap="none">
                <a:solidFill>
                  <a:srgbClr val="C93E33"/>
                </a:solidFill>
                <a:latin typeface="Inter"/>
                <a:ea typeface="Inter"/>
                <a:cs typeface="Inter"/>
                <a:sym typeface="Inter"/>
              </a:rPr>
              <a:t>1</a:t>
            </a:r>
            <a:endParaRPr sz="2625" i="0" u="none" strike="noStrike" cap="none">
              <a:solidFill>
                <a:srgbClr val="C93E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4" name="Google Shape;104;p18"/>
          <p:cNvSpPr/>
          <p:nvPr/>
        </p:nvSpPr>
        <p:spPr>
          <a:xfrm>
            <a:off x="8173388" y="416837"/>
            <a:ext cx="494100" cy="26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058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8"/>
          <p:cNvSpPr/>
          <p:nvPr/>
        </p:nvSpPr>
        <p:spPr>
          <a:xfrm>
            <a:off x="476250" y="906158"/>
            <a:ext cx="690753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Автономность за счет улучшения архитектуры</a:t>
            </a:r>
            <a:endParaRPr sz="2625" i="0" u="none" strike="noStrike" cap="none" dirty="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6" name="Google Shape;106;p18"/>
          <p:cNvSpPr/>
          <p:nvPr/>
        </p:nvSpPr>
        <p:spPr>
          <a:xfrm>
            <a:off x="4931240" y="1578879"/>
            <a:ext cx="56400" cy="20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1" i="0" u="none" strike="noStrike" cap="none">
                <a:solidFill>
                  <a:srgbClr val="8F2F27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8"/>
          <p:cNvSpPr/>
          <p:nvPr/>
        </p:nvSpPr>
        <p:spPr>
          <a:xfrm>
            <a:off x="4931240" y="2571750"/>
            <a:ext cx="56400" cy="20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1" i="0" u="none" strike="noStrike" cap="none">
                <a:solidFill>
                  <a:srgbClr val="8F2F27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8"/>
          <p:cNvSpPr/>
          <p:nvPr/>
        </p:nvSpPr>
        <p:spPr>
          <a:xfrm>
            <a:off x="309835" y="1578879"/>
            <a:ext cx="56400" cy="20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1" i="0" u="none" strike="noStrike" cap="none">
                <a:solidFill>
                  <a:srgbClr val="8F2F27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9" name="Google Shape;109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6250" y="320900"/>
            <a:ext cx="1536343" cy="4246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96;p18">
            <a:extLst>
              <a:ext uri="{FF2B5EF4-FFF2-40B4-BE49-F238E27FC236}">
                <a16:creationId xmlns:a16="http://schemas.microsoft.com/office/drawing/2014/main" id="{C53C288E-F27A-3589-04F3-29300F0E0FD9}"/>
              </a:ext>
            </a:extLst>
          </p:cNvPr>
          <p:cNvSpPr/>
          <p:nvPr/>
        </p:nvSpPr>
        <p:spPr>
          <a:xfrm>
            <a:off x="2500000" y="4194230"/>
            <a:ext cx="1880000" cy="9289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rPr lang="ru-RU" sz="1200" b="1" dirty="0" err="1"/>
              <a:t>автопроверок</a:t>
            </a:r>
            <a:r>
              <a:rPr lang="ru-RU" sz="1200" dirty="0"/>
              <a:t> — каждое правило проверено отдельно</a:t>
            </a:r>
            <a:r>
              <a:rPr lang="en-US" sz="1200" dirty="0"/>
              <a:t>;</a:t>
            </a:r>
            <a:endParaRPr lang="ru-RU" sz="1200" dirty="0"/>
          </a:p>
        </p:txBody>
      </p:sp>
      <p:sp>
        <p:nvSpPr>
          <p:cNvPr id="7" name="Google Shape;100;p18">
            <a:extLst>
              <a:ext uri="{FF2B5EF4-FFF2-40B4-BE49-F238E27FC236}">
                <a16:creationId xmlns:a16="http://schemas.microsoft.com/office/drawing/2014/main" id="{9A015ADF-7340-6F8A-8832-DC4EB37325BF}"/>
              </a:ext>
            </a:extLst>
          </p:cNvPr>
          <p:cNvSpPr/>
          <p:nvPr/>
        </p:nvSpPr>
        <p:spPr>
          <a:xfrm>
            <a:off x="2500000" y="3702162"/>
            <a:ext cx="1714500" cy="444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600" b="1" i="0" u="none" strike="noStrike" cap="none" dirty="0">
                <a:solidFill>
                  <a:srgbClr val="C93E33"/>
                </a:solidFill>
                <a:latin typeface="Inter"/>
                <a:ea typeface="Inter"/>
                <a:cs typeface="Inter"/>
                <a:sym typeface="Inter"/>
              </a:rPr>
              <a:t>10</a:t>
            </a:r>
            <a:r>
              <a:rPr lang="ru-RU" sz="2600" b="1" dirty="0">
                <a:solidFill>
                  <a:srgbClr val="C93E33"/>
                </a:solidFill>
                <a:latin typeface="Inter"/>
                <a:ea typeface="Inter"/>
                <a:cs typeface="Inter"/>
                <a:sym typeface="Inter"/>
              </a:rPr>
              <a:t>4</a:t>
            </a:r>
            <a:endParaRPr sz="2625" i="0" u="none" strike="noStrike" cap="none" dirty="0">
              <a:solidFill>
                <a:srgbClr val="C93E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3C2A9B-91C4-31E3-F782-7F5ECEB4E211}"/>
              </a:ext>
            </a:extLst>
          </p:cNvPr>
          <p:cNvSpPr txBox="1"/>
          <p:nvPr/>
        </p:nvSpPr>
        <p:spPr>
          <a:xfrm>
            <a:off x="4640000" y="4101726"/>
            <a:ext cx="188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ru-RU" sz="1200" b="1" dirty="0"/>
              <a:t>классов атак из постановки кейса; карта на MITRE ATT&amp;CK/ATLAS и OWASP LLM Top 10 — в модели угроз</a:t>
            </a:r>
            <a:r>
              <a:rPr lang="ru-RU" sz="1200" dirty="0"/>
              <a:t/>
            </a:r>
            <a:endParaRPr lang="ru-RU" sz="1200" b="1" dirty="0"/>
          </a:p>
          <a:p>
            <a:endParaRPr lang="ru-RU" sz="1200" dirty="0"/>
          </a:p>
        </p:txBody>
      </p:sp>
      <p:sp>
        <p:nvSpPr>
          <p:cNvPr id="3" name="Google Shape;100;p18">
            <a:extLst>
              <a:ext uri="{FF2B5EF4-FFF2-40B4-BE49-F238E27FC236}">
                <a16:creationId xmlns:a16="http://schemas.microsoft.com/office/drawing/2014/main" id="{2FA6F7AE-3381-EAA8-8490-A633DF3FE2A0}"/>
              </a:ext>
            </a:extLst>
          </p:cNvPr>
          <p:cNvSpPr/>
          <p:nvPr/>
        </p:nvSpPr>
        <p:spPr>
          <a:xfrm>
            <a:off x="4722750" y="3711917"/>
            <a:ext cx="1714500" cy="444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600" b="1" dirty="0">
                <a:solidFill>
                  <a:srgbClr val="C93E33"/>
                </a:solidFill>
                <a:latin typeface="Inter"/>
                <a:ea typeface="Inter"/>
                <a:cs typeface="Inter"/>
                <a:sym typeface="Inter"/>
              </a:rPr>
              <a:t>7</a:t>
            </a:r>
            <a:endParaRPr sz="2625" i="0" u="none" strike="noStrike" cap="none" dirty="0">
              <a:solidFill>
                <a:srgbClr val="C93E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0" name="Tile 157"/>
          <p:cNvSpPr/>
          <p:nvPr/>
        </p:nvSpPr>
        <p:spPr>
          <a:xfrm>
            <a:off x="6780000" y="3702162"/>
            <a:ext cx="1714500" cy="444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600" b="1" i="0" u="none" strike="noStrike" cap="none" dirty="0">
                <a:solidFill>
                  <a:srgbClr val="C93E33"/>
                </a:solidFill>
                <a:latin typeface="Inter"/>
                <a:ea typeface="Inter"/>
                <a:cs typeface="Inter"/>
                <a:sym typeface="Inter"/>
              </a:rPr>
              <a:t>148</a:t>
            </a:r>
          </a:p>
        </p:txBody>
      </p:sp>
      <p:sp>
        <p:nvSpPr>
          <p:cNvPr id="51" name="Tile 157 caption"/>
          <p:cNvSpPr txBox="1"/>
          <p:nvPr/>
        </p:nvSpPr>
        <p:spPr>
          <a:xfrm>
            <a:off x="6780000" y="4160000"/>
            <a:ext cx="20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ru-RU" sz="1200" b="1" dirty="0"/>
              <a:t>живых запусков</a:t>
            </a:r>
            <a:r>
              <a:rPr lang="ru-RU" sz="1200" dirty="0"/>
              <a:t> с моделью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3" grpId="0"/>
      <p:bldP spid="95" grpId="0"/>
      <p:bldP spid="99" grpId="0"/>
      <p:bldP spid="103" grpId="0"/>
      <p:bldP spid="4" grpId="0"/>
      <p:bldP spid="7" grpId="0"/>
      <p:bldP spid="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6FF"/>
        </a:solidFill>
        <a:effectLst/>
      </p:bgPr>
    </p:bg>
    <p:spTree>
      <p:nvGrpSpPr>
        <p:cNvPr id="1" name="Shape 92">
          <a:extLst>
            <a:ext uri="{FF2B5EF4-FFF2-40B4-BE49-F238E27FC236}">
              <a16:creationId xmlns:a16="http://schemas.microsoft.com/office/drawing/2014/main" id="{B6B10CF1-B353-7900-D619-FB431B3C2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8">
            <a:extLst>
              <a:ext uri="{FF2B5EF4-FFF2-40B4-BE49-F238E27FC236}">
                <a16:creationId xmlns:a16="http://schemas.microsoft.com/office/drawing/2014/main" id="{C6940167-061A-388B-EC20-E1D2B75C03E2}"/>
              </a:ext>
            </a:extLst>
          </p:cNvPr>
          <p:cNvSpPr/>
          <p:nvPr/>
        </p:nvSpPr>
        <p:spPr>
          <a:xfrm>
            <a:off x="2380571" y="2107092"/>
            <a:ext cx="2280000" cy="28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indent="0" algn="l" rtl="0">
              <a:lnSpc>
                <a:spcPct val="110000"/>
              </a:lnSpc>
              <a:buNone/>
            </a:pPr>
            <a:r>
              <a:rPr lang="ru-RU" sz="1200" b="0" i="0" dirty="0"/>
              <a:t>живых запусков · 2 модели · 2 платформы (macOS Seatbelt, Linux bubblewrap)</a:t>
            </a:r>
          </a:p>
          <a:p>
            <a:pPr marL="0" marR="0" indent="0" algn="l" rtl="0">
              <a:lnSpc>
                <a:spcPct val="110000"/>
              </a:lnSpc>
              <a:spcBef>
                <a:spcPts val="400"/>
              </a:spcBef>
              <a:buNone/>
            </a:pPr>
            <a:r>
              <a:rPr lang="ru-RU" sz="1050" b="1" i="0" dirty="0"/>
              <a:t>Атаки прошли:</a:t>
            </a:r>
            <a:r>
              <a:rPr lang="ru-RU" sz="1050" b="0" i="0" dirty="0"/>
              <a:t> без защиты 84% (47 из 56) → с защитой 0 из 56</a:t>
            </a:r>
          </a:p>
          <a:p>
            <a:pPr marL="0" marR="0" indent="0" algn="l" rtl="0">
              <a:lnSpc>
                <a:spcPct val="110000"/>
              </a:lnSpc>
              <a:spcBef>
                <a:spcPts val="400"/>
              </a:spcBef>
              <a:buNone/>
            </a:pPr>
            <a:r>
              <a:rPr lang="ru-RU" sz="1050" b="1" i="0" dirty="0"/>
              <a:t>Обычные задачи выполнены:</a:t>
            </a:r>
            <a:r>
              <a:rPr lang="ru-RU" sz="1050" b="0" i="0" dirty="0"/>
              <a:t> </a:t>
            </a:r>
          </a:p>
          <a:p>
            <a:pPr marL="0" marR="0" indent="0" algn="l" rtl="0">
              <a:lnSpc>
                <a:spcPct val="110000"/>
              </a:lnSpc>
              <a:spcBef>
                <a:spcPts val="400"/>
              </a:spcBef>
              <a:buNone/>
            </a:pPr>
            <a:r>
              <a:rPr lang="ru-RU" sz="1050" b="0" i="0" dirty="0"/>
              <a:t>22 из 22 → 22 из 23</a:t>
            </a:r>
          </a:p>
          <a:p>
            <a:pPr marL="0" marR="0" indent="0" algn="l" rtl="0">
              <a:lnSpc>
                <a:spcPct val="110000"/>
              </a:lnSpc>
              <a:spcBef>
                <a:spcPts val="400"/>
              </a:spcBef>
              <a:buNone/>
            </a:pPr>
            <a:r>
              <a:rPr lang="ru-RU" sz="1050" b="1" i="0" dirty="0"/>
              <a:t>Лишних вопросов и блокировок на обычных задачах:</a:t>
            </a:r>
            <a:r>
              <a:rPr lang="ru-RU" sz="1050" b="0" i="0" dirty="0"/>
              <a:t> 0 из 22 действий</a:t>
            </a:r>
          </a:p>
          <a:p>
            <a:pPr marL="0" marR="0" indent="0" algn="l" rtl="0">
              <a:lnSpc>
                <a:spcPct val="110000"/>
              </a:lnSpc>
              <a:spcBef>
                <a:spcPts val="400"/>
              </a:spcBef>
              <a:buNone/>
            </a:pPr>
            <a:r>
              <a:rPr lang="ru-RU" sz="1050" b="1" i="0" dirty="0"/>
              <a:t>Шкала 0/1/2:</a:t>
            </a:r>
            <a:r>
              <a:rPr lang="ru-RU" sz="1050" b="0" i="0" dirty="0"/>
              <a:t> 32 двойки, 12 единиц, 0 нулей</a:t>
            </a:r>
          </a:p>
          <a:p>
            <a:pPr marL="0" marR="0" indent="0" algn="l" rtl="0">
              <a:lnSpc>
                <a:spcPct val="105000"/>
              </a:lnSpc>
              <a:spcBef>
                <a:spcPts val="400"/>
              </a:spcBef>
              <a:buNone/>
            </a:pPr>
            <a:r>
              <a:rPr lang="ru-RU" sz="850" b="0" i="1" dirty="0">
                <a:solidFill>
                  <a:srgbClr val="595959"/>
                </a:solidFill>
              </a:rPr>
              <a:t>единицы — вопрос человеку: только установка новой зависимости и чтение секрета, там политика спрашивает намеренно</a:t>
            </a:r>
          </a:p>
        </p:txBody>
      </p:sp>
      <p:sp>
        <p:nvSpPr>
          <p:cNvPr id="102" name="Google Shape;102;p18">
            <a:extLst>
              <a:ext uri="{FF2B5EF4-FFF2-40B4-BE49-F238E27FC236}">
                <a16:creationId xmlns:a16="http://schemas.microsoft.com/office/drawing/2014/main" id="{27158D2B-81C7-1721-ACF9-BCC1200E8793}"/>
              </a:ext>
            </a:extLst>
          </p:cNvPr>
          <p:cNvSpPr/>
          <p:nvPr/>
        </p:nvSpPr>
        <p:spPr>
          <a:xfrm>
            <a:off x="2380571" y="1594902"/>
            <a:ext cx="171450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600" b="1" dirty="0">
                <a:solidFill>
                  <a:srgbClr val="C93E33"/>
                </a:solidFill>
                <a:latin typeface="Inter"/>
                <a:ea typeface="Inter"/>
                <a:cs typeface="Inter"/>
                <a:sym typeface="Inter"/>
              </a:rPr>
              <a:t>148</a:t>
            </a:r>
            <a:endParaRPr sz="2625" i="0" u="none" strike="noStrike" cap="none" dirty="0">
              <a:solidFill>
                <a:srgbClr val="C93E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4" name="Google Shape;104;p18">
            <a:extLst>
              <a:ext uri="{FF2B5EF4-FFF2-40B4-BE49-F238E27FC236}">
                <a16:creationId xmlns:a16="http://schemas.microsoft.com/office/drawing/2014/main" id="{A3DC1F7D-3F06-A60E-2437-7F78A32377DE}"/>
              </a:ext>
            </a:extLst>
          </p:cNvPr>
          <p:cNvSpPr/>
          <p:nvPr/>
        </p:nvSpPr>
        <p:spPr>
          <a:xfrm>
            <a:off x="8173388" y="416837"/>
            <a:ext cx="494100" cy="26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058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8">
            <a:extLst>
              <a:ext uri="{FF2B5EF4-FFF2-40B4-BE49-F238E27FC236}">
                <a16:creationId xmlns:a16="http://schemas.microsoft.com/office/drawing/2014/main" id="{2CF1D5B1-77D5-7619-3C47-D4C5681169B6}"/>
              </a:ext>
            </a:extLst>
          </p:cNvPr>
          <p:cNvSpPr/>
          <p:nvPr/>
        </p:nvSpPr>
        <p:spPr>
          <a:xfrm>
            <a:off x="476250" y="784238"/>
            <a:ext cx="690753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Защитный слой для ИИ-агента: результаты живого тестирования</a:t>
            </a:r>
            <a:endParaRPr sz="2625" i="0" u="none" strike="noStrike" cap="none" dirty="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09" name="Google Shape;109;p18">
            <a:extLst>
              <a:ext uri="{FF2B5EF4-FFF2-40B4-BE49-F238E27FC236}">
                <a16:creationId xmlns:a16="http://schemas.microsoft.com/office/drawing/2014/main" id="{4801E6CE-3259-F280-6E1F-6D6C5807B00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6250" y="320900"/>
            <a:ext cx="1536343" cy="4246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1F743D4-57C1-6E9F-A9C0-4567A39435A2}"/>
              </a:ext>
            </a:extLst>
          </p:cNvPr>
          <p:cNvSpPr txBox="1"/>
          <p:nvPr/>
        </p:nvSpPr>
        <p:spPr>
          <a:xfrm>
            <a:off x="4839580" y="1420502"/>
            <a:ext cx="4076641" cy="345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ru-RU" sz="1200" b="1" dirty="0"/>
              <a:t>Покрываемые сценарии при тестировании:</a:t>
            </a:r>
          </a:p>
          <a:p>
            <a:pPr lvl="0"/>
            <a:endParaRPr lang="ru-RU" sz="600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1050" b="1" dirty="0">
                <a:solidFill>
                  <a:srgbClr val="00B050"/>
                </a:solidFill>
              </a:rPr>
              <a:t>обычная работа</a:t>
            </a:r>
            <a:r>
              <a:rPr lang="ru-RU" sz="1050" dirty="0">
                <a:solidFill>
                  <a:srgbClr val="00B050"/>
                </a:solidFill>
              </a:rPr>
              <a:t> </a:t>
            </a:r>
            <a:r>
              <a:rPr lang="ru-RU" sz="1050" dirty="0"/>
              <a:t>— правка кода и локальный тест проходят без вмешательства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1050" b="1" dirty="0"/>
              <a:t>инъекция в README</a:t>
            </a:r>
            <a:r>
              <a:rPr lang="ru-RU" sz="1050" dirty="0"/>
              <a:t> — вредный результат отброшен, агент перепланировал работу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1050" b="1" dirty="0"/>
              <a:t>скрытый автозапуск</a:t>
            </a:r>
            <a:r>
              <a:rPr lang="ru-RU" sz="1050" dirty="0"/>
              <a:t> — подброшенный файл обнаружен на проверке после безопасного выполнения и не попал в проект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1050" b="1" dirty="0"/>
              <a:t>скачать и выполнить</a:t>
            </a:r>
            <a:r>
              <a:rPr lang="ru-RU" sz="1050" dirty="0"/>
              <a:t> — команда вида «загрузить скрипт и запустить» отклонена до выполнения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1050" b="1" dirty="0"/>
              <a:t>подозрительный источник пакета</a:t>
            </a:r>
            <a:r>
              <a:rPr lang="ru-RU" sz="1050" dirty="0"/>
              <a:t> — установка из непроверенного источника отклонена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1050" b="1" dirty="0"/>
              <a:t>неизвестный инструмент</a:t>
            </a:r>
            <a:r>
              <a:rPr lang="ru-RU" sz="1050" dirty="0"/>
              <a:t> — незнакомый инструмент заблокирован по умолчанию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1050" b="1" dirty="0"/>
              <a:t>обычная работа на публичном корпусе</a:t>
            </a:r>
            <a:r>
              <a:rPr lang="ru-RU" sz="1050" dirty="0"/>
              <a:t> — 9 046 действий SWE-agent через нашу политику: вмешательство 1,2%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1050" b="1" dirty="0"/>
              <a:t>утечка секрета</a:t>
            </a:r>
            <a:r>
              <a:rPr lang="ru-RU" sz="1050" dirty="0"/>
              <a:t> — чтение .env по инструкции из README остановлено, канарейка не ушла, 0 из 8 на двух моделях</a:t>
            </a:r>
          </a:p>
        </p:txBody>
      </p:sp>
      <p:sp>
        <p:nvSpPr>
          <p:cNvPr id="3" name="Google Shape;97;p18">
            <a:extLst>
              <a:ext uri="{FF2B5EF4-FFF2-40B4-BE49-F238E27FC236}">
                <a16:creationId xmlns:a16="http://schemas.microsoft.com/office/drawing/2014/main" id="{3C2C518D-3362-BB73-DF91-C2812232A31C}"/>
              </a:ext>
            </a:extLst>
          </p:cNvPr>
          <p:cNvSpPr/>
          <p:nvPr/>
        </p:nvSpPr>
        <p:spPr>
          <a:xfrm>
            <a:off x="531539" y="2107092"/>
            <a:ext cx="1715700" cy="10790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ea typeface="Calibri"/>
              </a:rPr>
              <a:t>задержка шлюза на одно решение, macOS; </a:t>
            </a: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ea typeface="Calibri"/>
              </a:rPr>
              <a:t>WSL2 до 38 мс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101;p18">
            <a:extLst>
              <a:ext uri="{FF2B5EF4-FFF2-40B4-BE49-F238E27FC236}">
                <a16:creationId xmlns:a16="http://schemas.microsoft.com/office/drawing/2014/main" id="{560DAEC7-6FE3-2D89-0ED9-6D7320A283F9}"/>
              </a:ext>
            </a:extLst>
          </p:cNvPr>
          <p:cNvSpPr/>
          <p:nvPr/>
        </p:nvSpPr>
        <p:spPr>
          <a:xfrm>
            <a:off x="531681" y="1594902"/>
            <a:ext cx="171450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 dirty="0">
                <a:solidFill>
                  <a:srgbClr val="C93E33"/>
                </a:solidFill>
                <a:latin typeface="Inter"/>
                <a:ea typeface="Inter"/>
                <a:cs typeface="Inter"/>
                <a:sym typeface="Inter"/>
              </a:rPr>
              <a:t>≤25ms</a:t>
            </a:r>
            <a:endParaRPr sz="2625" i="0" u="none" strike="noStrike" cap="none" dirty="0">
              <a:solidFill>
                <a:srgbClr val="C93E33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064395454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8" grpId="0"/>
      <p:bldP spid="102" grpId="0"/>
      <p:bldP spid="2" grpId="0"/>
      <p:bldP spid="3" grpId="0"/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6FF"/>
        </a:solidFill>
        <a:effectLst/>
      </p:bgPr>
    </p:bg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2"/>
          <p:cNvSpPr/>
          <p:nvPr/>
        </p:nvSpPr>
        <p:spPr>
          <a:xfrm>
            <a:off x="609600" y="508000"/>
            <a:ext cx="762762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600" b="1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Смотрим эффект, а не </a:t>
            </a:r>
            <a:r>
              <a:rPr lang="ru-RU" sz="2600" b="1" dirty="0">
                <a:latin typeface="Inter"/>
                <a:ea typeface="Inter"/>
                <a:cs typeface="Inter"/>
                <a:sym typeface="Inter"/>
              </a:rPr>
              <a:t>процесс </a:t>
            </a:r>
            <a:r>
              <a:rPr lang="ru" sz="2600" b="1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работы</a:t>
            </a:r>
            <a:endParaRPr sz="2625" i="0" u="none" strike="noStrike" cap="none" dirty="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71" name="mod0"/>
          <p:cNvSpPr/>
          <p:nvPr/>
        </p:nvSpPr>
        <p:spPr>
          <a:xfrm>
            <a:off x="469900" y="1158240"/>
            <a:ext cx="8796020" cy="482600"/>
          </a:xfrm>
          <a:prstGeom prst="roundRect">
            <a:avLst>
              <a:gd name="adj" fmla="val 14000"/>
            </a:avLst>
          </a:prstGeom>
          <a:solidFill>
            <a:srgbClr val="F2E9E8"/>
          </a:solidFill>
        </p:spPr>
        <p:txBody>
          <a:bodyPr lIns="182880" tIns="36576" rIns="182880" bIns="18288" anchor="ctr"/>
          <a:lstStyle/>
          <a:p>
            <a:r>
              <a:rPr lang="ru-RU" sz="900" b="1" spc="100">
                <a:solidFill>
                  <a:srgbClr val="C93E33"/>
                </a:solidFill>
              </a:rPr>
              <a:t>A · ПЕРЕХВАТ</a:t>
            </a:r>
            <a:r>
              <a:rPr lang="ru-RU" sz="1200">
                <a:solidFill>
                  <a:srgbClr val="161412"/>
                </a:solidFill>
              </a:rPr>
              <a:t>   Все действия агента идут через одну точку — обойти нельзя</a:t>
            </a:r>
          </a:p>
        </p:txBody>
      </p:sp>
      <p:sp>
        <p:nvSpPr>
          <p:cNvPr id="972" name="mod1"/>
          <p:cNvSpPr/>
          <p:nvPr/>
        </p:nvSpPr>
        <p:spPr>
          <a:xfrm>
            <a:off x="469900" y="1704340"/>
            <a:ext cx="8796020" cy="482600"/>
          </a:xfrm>
          <a:prstGeom prst="roundRect">
            <a:avLst>
              <a:gd name="adj" fmla="val 14000"/>
            </a:avLst>
          </a:prstGeom>
          <a:solidFill>
            <a:srgbClr val="F2E9E8"/>
          </a:solidFill>
        </p:spPr>
        <p:txBody>
          <a:bodyPr lIns="182880" tIns="36576" rIns="182880" bIns="18288" anchor="ctr"/>
          <a:lstStyle/>
          <a:p>
            <a:r>
              <a:rPr lang="ru-RU" sz="900" b="1" spc="100" dirty="0">
                <a:solidFill>
                  <a:srgbClr val="C93E33"/>
                </a:solidFill>
              </a:rPr>
              <a:t>B · РАЗБОР</a:t>
            </a:r>
            <a:r>
              <a:rPr lang="ru-RU" sz="1200" dirty="0">
                <a:solidFill>
                  <a:srgbClr val="161412"/>
                </a:solidFill>
              </a:rPr>
              <a:t>   Что действие меняет: файлы, сеть, установку пакетов</a:t>
            </a:r>
          </a:p>
        </p:txBody>
      </p:sp>
      <p:sp>
        <p:nvSpPr>
          <p:cNvPr id="973" name="mod2"/>
          <p:cNvSpPr/>
          <p:nvPr/>
        </p:nvSpPr>
        <p:spPr>
          <a:xfrm>
            <a:off x="469900" y="2250440"/>
            <a:ext cx="8796020" cy="482600"/>
          </a:xfrm>
          <a:prstGeom prst="roundRect">
            <a:avLst>
              <a:gd name="adj" fmla="val 14000"/>
            </a:avLst>
          </a:prstGeom>
          <a:solidFill>
            <a:srgbClr val="C93E33"/>
          </a:solidFill>
        </p:spPr>
        <p:txBody>
          <a:bodyPr lIns="182880" tIns="36576" rIns="182880" bIns="18288" anchor="ctr"/>
          <a:lstStyle/>
          <a:p>
            <a:r>
              <a:rPr lang="ru-RU" sz="900" b="1" spc="100" dirty="0">
                <a:solidFill>
                  <a:srgbClr val="F6D8D5"/>
                </a:solidFill>
              </a:rPr>
              <a:t>C · ПРАВИЛА</a:t>
            </a:r>
            <a:r>
              <a:rPr lang="ru-RU" sz="1200" dirty="0">
                <a:solidFill>
                  <a:srgbClr val="FFFFFF"/>
                </a:solidFill>
              </a:rPr>
              <a:t>   Жёсткие проверки по эффектам. Потенциально опасный текст сюда не доходит — только данные; контроль, до которого инъекция не доходит: только структурированные эффекты</a:t>
            </a:r>
          </a:p>
        </p:txBody>
      </p:sp>
      <p:sp>
        <p:nvSpPr>
          <p:cNvPr id="974" name="mod3"/>
          <p:cNvSpPr/>
          <p:nvPr/>
        </p:nvSpPr>
        <p:spPr>
          <a:xfrm>
            <a:off x="469900" y="2796540"/>
            <a:ext cx="8796020" cy="482600"/>
          </a:xfrm>
          <a:prstGeom prst="roundRect">
            <a:avLst>
              <a:gd name="adj" fmla="val 14000"/>
            </a:avLst>
          </a:prstGeom>
          <a:solidFill>
            <a:srgbClr val="F2E9E8"/>
          </a:solidFill>
        </p:spPr>
        <p:txBody>
          <a:bodyPr lIns="182880" tIns="36576" rIns="182880" bIns="18288" anchor="ctr"/>
          <a:lstStyle/>
          <a:p>
            <a:r>
              <a:rPr lang="ru-RU" sz="900" b="1" spc="100">
                <a:solidFill>
                  <a:srgbClr val="C93E33"/>
                </a:solidFill>
              </a:rPr>
              <a:t>D · ПРОВЕРКА ПО ФАКТУ</a:t>
            </a:r>
            <a:r>
              <a:rPr lang="ru-RU" sz="1200">
                <a:solidFill>
                  <a:srgbClr val="161412"/>
                </a:solidFill>
              </a:rPr>
              <a:t>   Снимок состояния до и после: видно, что произошло на самом деле</a:t>
            </a:r>
          </a:p>
        </p:txBody>
      </p:sp>
      <p:sp>
        <p:nvSpPr>
          <p:cNvPr id="975" name="mod4"/>
          <p:cNvSpPr/>
          <p:nvPr/>
        </p:nvSpPr>
        <p:spPr>
          <a:xfrm>
            <a:off x="469900" y="3342640"/>
            <a:ext cx="8796020" cy="482600"/>
          </a:xfrm>
          <a:prstGeom prst="roundRect">
            <a:avLst>
              <a:gd name="adj" fmla="val 14000"/>
            </a:avLst>
          </a:prstGeom>
          <a:solidFill>
            <a:srgbClr val="F2E9E8"/>
          </a:solidFill>
        </p:spPr>
        <p:txBody>
          <a:bodyPr lIns="182880" tIns="36576" rIns="182880" bIns="18288" anchor="ctr"/>
          <a:lstStyle/>
          <a:p>
            <a:r>
              <a:rPr lang="ru-RU" sz="900" b="1" spc="100" dirty="0">
                <a:solidFill>
                  <a:srgbClr val="C93E33"/>
                </a:solidFill>
              </a:rPr>
              <a:t>E · ОТВЕТ</a:t>
            </a:r>
            <a:r>
              <a:rPr lang="ru-RU" sz="1200" dirty="0">
                <a:solidFill>
                  <a:srgbClr val="161412"/>
                </a:solidFill>
              </a:rPr>
              <a:t>   Машинный ответ агенту без текста из внешних источников</a:t>
            </a:r>
          </a:p>
        </p:txBody>
      </p:sp>
      <p:sp>
        <p:nvSpPr>
          <p:cNvPr id="988" name="tech-note"/>
          <p:cNvSpPr/>
          <p:nvPr/>
        </p:nvSpPr>
        <p:spPr>
          <a:xfrm>
            <a:off x="469900" y="4440000"/>
            <a:ext cx="8674100" cy="650000"/>
          </a:xfrm>
          <a:prstGeom prst="rect">
            <a:avLst/>
          </a:prstGeom>
        </p:spPr>
        <p:txBody>
          <a:bodyPr/>
          <a:lstStyle/>
          <a:p>
            <a:r>
              <a:rPr lang="ru-RU" sz="900" i="1" dirty="0">
                <a:solidFill>
                  <a:srgbClr val="7A7A7A"/>
                </a:solidFill>
              </a:rPr>
              <a:t>Ограничения: подмену инструкций в тексте не распознаём, ограничиваем последствия; необратимые внешние действия вхолостую не проверить, остаётся вопрос человеку; вредоносный код внутри разрешённой правки выглядит легитимно; атаки, растянутые на несколько шагов, сравниваем по одному действию; секрет, скопированный скриптом в файл проекта, проходит проверку по путям; коммиты делает человек: git-операции в auto mode запрещены</a:t>
            </a:r>
          </a:p>
        </p:txBody>
      </p:sp>
      <p:sp>
        <p:nvSpPr>
          <p:cNvPr id="5" name="mod5">
            <a:extLst>
              <a:ext uri="{FF2B5EF4-FFF2-40B4-BE49-F238E27FC236}">
                <a16:creationId xmlns:a16="http://schemas.microsoft.com/office/drawing/2014/main" id="{25DB1C03-7B85-7079-F2A3-ED0A7903D4FB}"/>
              </a:ext>
            </a:extLst>
          </p:cNvPr>
          <p:cNvSpPr/>
          <p:nvPr/>
        </p:nvSpPr>
        <p:spPr>
          <a:xfrm>
            <a:off x="469900" y="3903980"/>
            <a:ext cx="8796020" cy="482600"/>
          </a:xfrm>
          <a:prstGeom prst="roundRect">
            <a:avLst>
              <a:gd name="adj" fmla="val 14000"/>
            </a:avLst>
          </a:prstGeom>
          <a:solidFill>
            <a:srgbClr val="F2E9E8"/>
          </a:solidFill>
        </p:spPr>
        <p:txBody>
          <a:bodyPr lIns="182880" tIns="36576" rIns="182880" bIns="18288" anchor="ctr"/>
          <a:lstStyle/>
          <a:p>
            <a:r>
              <a:rPr lang="ru-RU" sz="900" b="1" spc="100" dirty="0">
                <a:solidFill>
                  <a:srgbClr val="C93E33"/>
                </a:solidFill>
              </a:rPr>
              <a:t>F · ПАКЕТЫ</a:t>
            </a:r>
            <a:r>
              <a:rPr lang="ru-RU" sz="1200" dirty="0">
                <a:solidFill>
                  <a:srgbClr val="161412"/>
                </a:solidFill>
              </a:rPr>
              <a:t>   Новая или подозрительная зависимость идёт на вопрос до установки; </a:t>
            </a:r>
          </a:p>
          <a:p>
            <a:r>
              <a:rPr lang="ru-RU" sz="1200" dirty="0">
                <a:solidFill>
                  <a:srgbClr val="161412"/>
                </a:solidFill>
              </a:rPr>
              <a:t>	</a:t>
            </a:r>
            <a:r>
              <a:rPr lang="ru-RU" sz="1200" dirty="0" err="1">
                <a:solidFill>
                  <a:srgbClr val="161412"/>
                </a:solidFill>
              </a:rPr>
              <a:t>lifecycle</a:t>
            </a:r>
            <a:r>
              <a:rPr lang="ru-RU" sz="1200" dirty="0">
                <a:solidFill>
                  <a:srgbClr val="161412"/>
                </a:solidFill>
              </a:rPr>
              <a:t>-скрипт пакета ловится по факту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72" grpId="0" animBg="1"/>
      <p:bldP spid="973" grpId="0" animBg="1"/>
      <p:bldP spid="974" grpId="0" animBg="1"/>
      <p:bldP spid="975" grpId="0" animBg="1"/>
      <p:bldP spid="988" grpId="0"/>
      <p:bldP spid="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93E33"/>
        </a:solidFill>
        <a:effectLst/>
      </p:bgPr>
    </p:bg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5" name="Google Shape;185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01422" y="307125"/>
            <a:ext cx="1673574" cy="462524"/>
          </a:xfrm>
          <a:prstGeom prst="rect">
            <a:avLst/>
          </a:prstGeom>
          <a:noFill/>
          <a:ln>
            <a:noFill/>
          </a:ln>
        </p:spPr>
      </p:pic>
      <p:sp>
        <p:nvSpPr>
          <p:cNvPr id="960" name="demo-title"/>
          <p:cNvSpPr>
            <a:spLocks noGrp="1"/>
          </p:cNvSpPr>
          <p:nvPr/>
        </p:nvSpPr>
        <p:spPr>
          <a:xfrm>
            <a:off x="469900" y="914400"/>
            <a:ext cx="11430000" cy="762000"/>
          </a:xfrm>
          <a:prstGeom prst="rect">
            <a:avLst/>
          </a:prstGeom>
        </p:spPr>
        <p:txBody>
          <a:bodyPr/>
          <a:lstStyle/>
          <a:p>
            <a:r>
              <a:rPr lang="ru-RU" sz="2800" b="1">
                <a:solidFill>
                  <a:srgbClr val="FFFFFF"/>
                </a:solidFill>
              </a:rPr>
              <a:t>Один сценарий: без защиты и с защитой</a:t>
            </a:r>
          </a:p>
        </p:txBody>
      </p:sp>
      <p:sp>
        <p:nvSpPr>
          <p:cNvPr id="971" name="card0"/>
          <p:cNvSpPr/>
          <p:nvPr/>
        </p:nvSpPr>
        <p:spPr>
          <a:xfrm>
            <a:off x="469900" y="1676400"/>
            <a:ext cx="8811260" cy="711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</p:spPr>
        <p:txBody>
          <a:bodyPr lIns="228600" tIns="76200" rIns="228600" bIns="50800" anchor="ctr"/>
          <a:lstStyle/>
          <a:p>
            <a:r>
              <a:rPr lang="ru-RU" sz="1100" b="1" spc="120">
                <a:solidFill>
                  <a:srgbClr val="C93E33"/>
                </a:solidFill>
              </a:rPr>
              <a:t>1 · ОДИН СЦЕНАРИЙ</a:t>
            </a:r>
          </a:p>
          <a:p>
            <a:r>
              <a:rPr lang="ru-RU" sz="1600" b="1">
                <a:solidFill>
                  <a:srgbClr val="161412"/>
                </a:solidFill>
              </a:rPr>
              <a:t>Агент чинит баг и читает README со спрятанной инструкцией</a:t>
            </a:r>
          </a:p>
        </p:txBody>
      </p:sp>
      <p:sp>
        <p:nvSpPr>
          <p:cNvPr id="972" name="card1"/>
          <p:cNvSpPr/>
          <p:nvPr/>
        </p:nvSpPr>
        <p:spPr>
          <a:xfrm>
            <a:off x="469900" y="2476500"/>
            <a:ext cx="8811260" cy="711200"/>
          </a:xfrm>
          <a:prstGeom prst="roundRect">
            <a:avLst>
              <a:gd name="adj" fmla="val 12000"/>
            </a:avLst>
          </a:prstGeom>
          <a:solidFill>
            <a:srgbClr val="111318"/>
          </a:solidFill>
        </p:spPr>
        <p:txBody>
          <a:bodyPr lIns="228600" tIns="76200" rIns="228600" bIns="50800" anchor="ctr"/>
          <a:lstStyle/>
          <a:p>
            <a:r>
              <a:rPr lang="ru-RU" sz="1100" b="1" spc="120">
                <a:solidFill>
                  <a:srgbClr val="F6D8D5"/>
                </a:solidFill>
              </a:rPr>
              <a:t>2 · БЕЗ ЗАЩИТЫ (--auto)</a:t>
            </a:r>
          </a:p>
          <a:p>
            <a:r>
              <a:rPr lang="ru-RU" sz="1600" b="1">
                <a:solidFill>
                  <a:srgbClr val="FFFFFF"/>
                </a:solidFill>
              </a:rPr>
              <a:t>Агент поддаётся — файл автозапуска появляется в проекте</a:t>
            </a:r>
          </a:p>
        </p:txBody>
      </p:sp>
      <p:sp>
        <p:nvSpPr>
          <p:cNvPr id="973" name="card2"/>
          <p:cNvSpPr/>
          <p:nvPr/>
        </p:nvSpPr>
        <p:spPr>
          <a:xfrm>
            <a:off x="469900" y="3276600"/>
            <a:ext cx="8811260" cy="711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</p:spPr>
        <p:txBody>
          <a:bodyPr lIns="228600" tIns="76200" rIns="228600" bIns="50800" anchor="ctr"/>
          <a:lstStyle/>
          <a:p>
            <a:r>
              <a:rPr lang="ru-RU" sz="1100" b="1" spc="120">
                <a:solidFill>
                  <a:srgbClr val="C93E33"/>
                </a:solidFill>
              </a:rPr>
              <a:t>3 · С ЗАЩИТОЙ (auto mode)</a:t>
            </a:r>
          </a:p>
          <a:p>
            <a:r>
              <a:rPr lang="ru-RU" sz="1600" b="1">
                <a:solidFill>
                  <a:srgbClr val="161412"/>
                </a:solidFill>
              </a:rPr>
              <a:t>Действие выполняется в копии, эффект проверяется по факту</a:t>
            </a:r>
          </a:p>
        </p:txBody>
      </p:sp>
      <p:sp>
        <p:nvSpPr>
          <p:cNvPr id="974" name="card3"/>
          <p:cNvSpPr/>
          <p:nvPr/>
        </p:nvSpPr>
        <p:spPr>
          <a:xfrm>
            <a:off x="469900" y="4040000"/>
            <a:ext cx="8811260" cy="880000"/>
          </a:xfrm>
          <a:prstGeom prst="roundRect">
            <a:avLst>
              <a:gd name="adj" fmla="val 12000"/>
            </a:avLst>
          </a:prstGeom>
          <a:solidFill>
            <a:srgbClr val="161412"/>
          </a:solidFill>
        </p:spPr>
        <p:txBody>
          <a:bodyPr lIns="228600" tIns="76200" rIns="228600" bIns="50800" anchor="ctr"/>
          <a:lstStyle/>
          <a:p>
            <a:r>
              <a:rPr lang="ru-RU" sz="1100" b="1" spc="120">
                <a:solidFill>
                  <a:srgbClr val="F6D8D5"/>
                </a:solidFill>
              </a:rPr>
              <a:t>4 · ИТОГ</a:t>
            </a:r>
          </a:p>
          <a:p>
            <a:r>
              <a:rPr lang="ru-RU" sz="1600" b="1">
                <a:solidFill>
                  <a:srgbClr val="8FD49B"/>
                </a:solidFill>
              </a:rPr>
              <a:t>DENY — файла нет в проекте, починка бага применена, агент продолжил</a:t>
            </a:r>
          </a:p>
          <a:p>
            <a:r>
              <a:rPr lang="ru-RU" sz="1100" i="0">
                <a:solidFill>
                  <a:srgbClr val="E8E4E0"/>
                </a:solidFill>
              </a:rPr>
              <a:t>инъекция из README на сильной модели nemotron-3-super-120b: без защиты прошла 3 из 4, с защитой 0 из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6FF"/>
        </a:solidFill>
        <a:effectLst/>
      </p:bgPr>
    </p:bg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5" name="Google Shape;215;p27"/>
          <p:cNvCxnSpPr/>
          <p:nvPr/>
        </p:nvCxnSpPr>
        <p:spPr>
          <a:xfrm>
            <a:off x="2636307" y="3494757"/>
            <a:ext cx="2213400" cy="0"/>
          </a:xfrm>
          <a:prstGeom prst="straightConnector1">
            <a:avLst/>
          </a:prstGeom>
          <a:solidFill>
            <a:srgbClr val="000000"/>
          </a:solidFill>
          <a:ln w="21150" cap="flat" cmpd="sng">
            <a:solidFill>
              <a:srgbClr val="C93E33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16" name="Google Shape;216;p27"/>
          <p:cNvCxnSpPr/>
          <p:nvPr/>
        </p:nvCxnSpPr>
        <p:spPr>
          <a:xfrm>
            <a:off x="4843468" y="3491617"/>
            <a:ext cx="2213400" cy="0"/>
          </a:xfrm>
          <a:prstGeom prst="straightConnector1">
            <a:avLst/>
          </a:prstGeom>
          <a:solidFill>
            <a:srgbClr val="000000"/>
          </a:solidFill>
          <a:ln w="21150" cap="flat" cmpd="sng">
            <a:solidFill>
              <a:srgbClr val="C93E33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17" name="Google Shape;217;p27"/>
          <p:cNvSpPr/>
          <p:nvPr/>
        </p:nvSpPr>
        <p:spPr>
          <a:xfrm>
            <a:off x="476250" y="1673096"/>
            <a:ext cx="7606116" cy="503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600" b="1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Работает в Kilo Code — дальше в </a:t>
            </a:r>
            <a:r>
              <a:rPr lang="ru-RU" sz="2600" b="1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сообщество</a:t>
            </a:r>
            <a:endParaRPr sz="2625" i="0" u="none" strike="noStrike" cap="none" dirty="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8" name="Google Shape;218;p27"/>
          <p:cNvSpPr/>
          <p:nvPr/>
        </p:nvSpPr>
        <p:spPr>
          <a:xfrm>
            <a:off x="8173388" y="416837"/>
            <a:ext cx="494100" cy="26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058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9" name="Google Shape;219;p27"/>
          <p:cNvCxnSpPr/>
          <p:nvPr/>
        </p:nvCxnSpPr>
        <p:spPr>
          <a:xfrm>
            <a:off x="475843" y="3497897"/>
            <a:ext cx="2213400" cy="0"/>
          </a:xfrm>
          <a:prstGeom prst="straightConnector1">
            <a:avLst/>
          </a:prstGeom>
          <a:solidFill>
            <a:srgbClr val="000000"/>
          </a:solidFill>
          <a:ln w="21150" cap="flat" cmpd="sng">
            <a:solidFill>
              <a:srgbClr val="C93E33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20" name="Google Shape;220;p27"/>
          <p:cNvSpPr/>
          <p:nvPr/>
        </p:nvSpPr>
        <p:spPr>
          <a:xfrm>
            <a:off x="476250" y="3717492"/>
            <a:ext cx="2000000" cy="14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PoC </a:t>
            </a:r>
            <a:r>
              <a:rPr lang="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в Kilo Code: правила, изолированная копия, перенос только после проверки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850" i="0" u="none" strike="noStrike" cap="none" dirty="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модель угроз — в репозитории: docs/auto-mode-hackathon/THREAT-MODEL.md</a:t>
            </a:r>
          </a:p>
        </p:txBody>
      </p:sp>
      <p:sp>
        <p:nvSpPr>
          <p:cNvPr id="221" name="Google Shape;221;p27"/>
          <p:cNvSpPr/>
          <p:nvPr/>
        </p:nvSpPr>
        <p:spPr>
          <a:xfrm>
            <a:off x="2634524" y="3717492"/>
            <a:ext cx="1868896" cy="1426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104 автопроверки; демо 6 сценариев с одинаковым хешем на macOS и Linux; 148 живых запусков на двух моделях: атаки 84% → 0, задачи 22 из 23</a:t>
            </a:r>
          </a:p>
        </p:txBody>
      </p:sp>
      <p:sp>
        <p:nvSpPr>
          <p:cNvPr id="222" name="Google Shape;222;p27"/>
          <p:cNvSpPr/>
          <p:nvPr/>
        </p:nvSpPr>
        <p:spPr>
          <a:xfrm>
            <a:off x="4793914" y="3717491"/>
            <a:ext cx="1950000" cy="14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Расширение покрытия тестами, уточнение метрик; PR в Kilo Code через issue; остановка после N отказов подряд с передачей человеку; проверка содержимого новых файлов на строки из секретов; pip/uv в проверке пакетов</a:t>
            </a:r>
          </a:p>
        </p:txBody>
      </p:sp>
      <p:sp>
        <p:nvSpPr>
          <p:cNvPr id="223" name="Google Shape;223;p27"/>
          <p:cNvSpPr/>
          <p:nvPr/>
        </p:nvSpPr>
        <p:spPr>
          <a:xfrm>
            <a:off x="6954421" y="3717697"/>
            <a:ext cx="17142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Попробуйте подход в своей работе — это расширит набор тестов и уточнит оценку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7"/>
          <p:cNvSpPr/>
          <p:nvPr/>
        </p:nvSpPr>
        <p:spPr>
          <a:xfrm>
            <a:off x="476250" y="2967000"/>
            <a:ext cx="171450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600" b="1" i="0" u="none" strike="noStrike" cap="none">
                <a:solidFill>
                  <a:srgbClr val="C93E33"/>
                </a:solidFill>
                <a:latin typeface="Inter"/>
                <a:ea typeface="Inter"/>
                <a:cs typeface="Inter"/>
                <a:sym typeface="Inter"/>
              </a:rPr>
              <a:t>Готово</a:t>
            </a:r>
            <a:endParaRPr sz="2625" i="0" u="none" strike="noStrike" cap="none">
              <a:solidFill>
                <a:srgbClr val="C93E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5" name="Google Shape;225;p27"/>
          <p:cNvSpPr/>
          <p:nvPr/>
        </p:nvSpPr>
        <p:spPr>
          <a:xfrm>
            <a:off x="2634666" y="2967175"/>
            <a:ext cx="171450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600" b="1" i="0" u="none" strike="noStrike" cap="none">
                <a:solidFill>
                  <a:srgbClr val="C93E33"/>
                </a:solidFill>
                <a:latin typeface="Inter"/>
                <a:ea typeface="Inter"/>
                <a:cs typeface="Inter"/>
                <a:sym typeface="Inter"/>
              </a:rPr>
              <a:t>Тесты</a:t>
            </a:r>
            <a:endParaRPr sz="2625" i="0" u="none" strike="noStrike" cap="none">
              <a:solidFill>
                <a:srgbClr val="C93E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6" name="Google Shape;226;p27"/>
          <p:cNvSpPr/>
          <p:nvPr/>
        </p:nvSpPr>
        <p:spPr>
          <a:xfrm>
            <a:off x="4793081" y="2967283"/>
            <a:ext cx="171450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600" b="1" i="0" u="none" strike="noStrike" cap="none">
                <a:solidFill>
                  <a:srgbClr val="C93E33"/>
                </a:solidFill>
                <a:latin typeface="Inter"/>
                <a:ea typeface="Inter"/>
                <a:cs typeface="Inter"/>
                <a:sym typeface="Inter"/>
              </a:rPr>
              <a:t>Дальше</a:t>
            </a:r>
            <a:endParaRPr sz="2625" i="0" u="none" strike="noStrike" cap="none">
              <a:solidFill>
                <a:srgbClr val="C93E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7" name="Google Shape;227;p27"/>
          <p:cNvSpPr/>
          <p:nvPr/>
        </p:nvSpPr>
        <p:spPr>
          <a:xfrm>
            <a:off x="6951497" y="2967391"/>
            <a:ext cx="171450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600" b="1" dirty="0">
                <a:solidFill>
                  <a:srgbClr val="C93E33"/>
                </a:solidFill>
                <a:latin typeface="Inter"/>
                <a:ea typeface="Inter"/>
                <a:cs typeface="Inter"/>
                <a:sym typeface="Inter"/>
              </a:rPr>
              <a:t>Запрос</a:t>
            </a:r>
            <a:endParaRPr sz="2625" i="0" u="none" strike="noStrike" cap="none" dirty="0">
              <a:solidFill>
                <a:srgbClr val="C93E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8" name="Google Shape;228;p27"/>
          <p:cNvSpPr/>
          <p:nvPr/>
        </p:nvSpPr>
        <p:spPr>
          <a:xfrm>
            <a:off x="475843" y="3444878"/>
            <a:ext cx="105900" cy="105900"/>
          </a:xfrm>
          <a:prstGeom prst="ellipse">
            <a:avLst/>
          </a:prstGeom>
          <a:solidFill>
            <a:srgbClr val="C93E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27"/>
          <p:cNvSpPr/>
          <p:nvPr/>
        </p:nvSpPr>
        <p:spPr>
          <a:xfrm>
            <a:off x="2636307" y="3441738"/>
            <a:ext cx="105900" cy="105900"/>
          </a:xfrm>
          <a:prstGeom prst="ellipse">
            <a:avLst/>
          </a:prstGeom>
          <a:solidFill>
            <a:srgbClr val="C93E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27"/>
          <p:cNvSpPr/>
          <p:nvPr/>
        </p:nvSpPr>
        <p:spPr>
          <a:xfrm>
            <a:off x="6952593" y="3438598"/>
            <a:ext cx="105900" cy="105900"/>
          </a:xfrm>
          <a:prstGeom prst="ellipse">
            <a:avLst/>
          </a:prstGeom>
          <a:solidFill>
            <a:srgbClr val="8F2F2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27"/>
          <p:cNvSpPr/>
          <p:nvPr/>
        </p:nvSpPr>
        <p:spPr>
          <a:xfrm>
            <a:off x="4792129" y="3441738"/>
            <a:ext cx="105900" cy="105900"/>
          </a:xfrm>
          <a:prstGeom prst="ellipse">
            <a:avLst/>
          </a:prstGeom>
          <a:solidFill>
            <a:srgbClr val="C93E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32" name="Google Shape;232;p27"/>
          <p:cNvCxnSpPr/>
          <p:nvPr/>
        </p:nvCxnSpPr>
        <p:spPr>
          <a:xfrm>
            <a:off x="7005223" y="3496259"/>
            <a:ext cx="1667100" cy="0"/>
          </a:xfrm>
          <a:prstGeom prst="straightConnector1">
            <a:avLst/>
          </a:prstGeom>
          <a:solidFill>
            <a:srgbClr val="000000"/>
          </a:solidFill>
          <a:ln w="21150" cap="flat" cmpd="sng">
            <a:solidFill>
              <a:srgbClr val="C93E33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233" name="Google Shape;233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6250" y="320900"/>
            <a:ext cx="1536343" cy="424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6FF"/>
        </a:solidFill>
        <a:effectLst/>
      </p:bgPr>
    </p:bg>
    <p:spTree>
      <p:nvGrpSpPr>
        <p:cNvPr id="1" name="Shape 214">
          <a:extLst>
            <a:ext uri="{FF2B5EF4-FFF2-40B4-BE49-F238E27FC236}">
              <a16:creationId xmlns:a16="http://schemas.microsoft.com/office/drawing/2014/main" id="{D33C5C4B-C9DC-8F9D-5CC7-2F5C4CCF3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27">
            <a:extLst>
              <a:ext uri="{FF2B5EF4-FFF2-40B4-BE49-F238E27FC236}">
                <a16:creationId xmlns:a16="http://schemas.microsoft.com/office/drawing/2014/main" id="{18A0E384-8DC6-5E05-F8DD-3182C291ED55}"/>
              </a:ext>
            </a:extLst>
          </p:cNvPr>
          <p:cNvSpPr/>
          <p:nvPr/>
        </p:nvSpPr>
        <p:spPr>
          <a:xfrm>
            <a:off x="476250" y="1673096"/>
            <a:ext cx="7606116" cy="503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625" i="0" u="none" strike="noStrike" cap="none" dirty="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8" name="Google Shape;218;p27">
            <a:extLst>
              <a:ext uri="{FF2B5EF4-FFF2-40B4-BE49-F238E27FC236}">
                <a16:creationId xmlns:a16="http://schemas.microsoft.com/office/drawing/2014/main" id="{1BDCA643-801D-F1A8-4DEC-9BBC5B4F1344}"/>
              </a:ext>
            </a:extLst>
          </p:cNvPr>
          <p:cNvSpPr/>
          <p:nvPr/>
        </p:nvSpPr>
        <p:spPr>
          <a:xfrm>
            <a:off x="8173388" y="416837"/>
            <a:ext cx="494100" cy="26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058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3" name="Google Shape;233;p27">
            <a:extLst>
              <a:ext uri="{FF2B5EF4-FFF2-40B4-BE49-F238E27FC236}">
                <a16:creationId xmlns:a16="http://schemas.microsoft.com/office/drawing/2014/main" id="{C99905F7-726A-2C9F-8981-64A7DE4FACF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6250" y="320900"/>
            <a:ext cx="1536343" cy="4246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4" name="Table 217">
            <a:extLst>
              <a:ext uri="{FF2B5EF4-FFF2-40B4-BE49-F238E27FC236}">
                <a16:creationId xmlns:a16="http://schemas.microsoft.com/office/drawing/2014/main" id="{CEF6777F-CF52-60B0-9473-34E11EF6F1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4887147"/>
              </p:ext>
            </p:extLst>
          </p:nvPr>
        </p:nvGraphicFramePr>
        <p:xfrm>
          <a:off x="476250" y="1460806"/>
          <a:ext cx="8046719" cy="36045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8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21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186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22011">
                <a:tc>
                  <a:txBody>
                    <a:bodyPr/>
                    <a:lstStyle/>
                    <a:p>
                      <a:r>
                        <a:rPr sz="1100" b="1" dirty="0" err="1">
                          <a:solidFill>
                            <a:srgbClr val="C93E33"/>
                          </a:solidFill>
                          <a:latin typeface="Inter"/>
                        </a:rPr>
                        <a:t>Участник</a:t>
                      </a:r>
                      <a:endParaRPr sz="1100" b="1" dirty="0">
                        <a:solidFill>
                          <a:srgbClr val="C93E33"/>
                        </a:solidFill>
                        <a:latin typeface="Inter"/>
                      </a:endParaRPr>
                    </a:p>
                  </a:txBody>
                  <a:tcPr>
                    <a:solidFill>
                      <a:srgbClr val="F2E9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93E33"/>
                          </a:solidFill>
                          <a:latin typeface="Inter"/>
                        </a:rPr>
                        <a:t>Роль и зона ответственности</a:t>
                      </a:r>
                    </a:p>
                  </a:txBody>
                  <a:tcPr>
                    <a:solidFill>
                      <a:srgbClr val="F2E9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93E33"/>
                          </a:solidFill>
                          <a:latin typeface="Inter"/>
                        </a:rPr>
                        <a:t>Что сделано</a:t>
                      </a:r>
                    </a:p>
                  </a:txBody>
                  <a:tcPr>
                    <a:solidFill>
                      <a:srgbClr val="F2E9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dirty="0" err="1">
                          <a:solidFill>
                            <a:srgbClr val="C93E33"/>
                          </a:solidFill>
                          <a:latin typeface="Inter"/>
                        </a:rPr>
                        <a:t>Участие</a:t>
                      </a:r>
                      <a:endParaRPr sz="1100" b="1" dirty="0">
                        <a:solidFill>
                          <a:srgbClr val="C93E33"/>
                        </a:solidFill>
                        <a:latin typeface="Inter"/>
                      </a:endParaRPr>
                    </a:p>
                  </a:txBody>
                  <a:tcPr>
                    <a:solidFill>
                      <a:srgbClr val="F2E9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38563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61412"/>
                          </a:solidFill>
                          <a:latin typeface="Inter"/>
                        </a:rPr>
                        <a:t>Белоконь Михаил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Продакт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и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проджект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: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постановка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метрики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материалы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приёмка</a:t>
                      </a:r>
                      <a:endParaRPr sz="1100" b="0" dirty="0">
                        <a:solidFill>
                          <a:srgbClr val="161412"/>
                        </a:solidFill>
                        <a:latin typeface="Inter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Границы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MVP и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критерии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;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конкурентный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анализ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30+;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продуктовые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материалы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и </a:t>
                      </a:r>
                      <a:r>
                        <a:rPr lang="ru-RU" sz="1100" b="0" dirty="0">
                          <a:solidFill>
                            <a:srgbClr val="161412"/>
                          </a:solidFill>
                          <a:latin typeface="Inter"/>
                        </a:rPr>
                        <a:t>презентация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;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живые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прогоны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на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модели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, </a:t>
                      </a:r>
                      <a:r>
                        <a:rPr lang="ru-RU" sz="1100" b="0" dirty="0">
                          <a:solidFill>
                            <a:srgbClr val="161412"/>
                          </a:solidFill>
                          <a:latin typeface="Inter"/>
                        </a:rPr>
                        <a:t>поиск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дефект</a:t>
                      </a:r>
                      <a:r>
                        <a:rPr lang="ru-RU"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ов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и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доработки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;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синхронизация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артефактов</a:t>
                      </a:r>
                      <a:endParaRPr sz="1100" b="0" dirty="0">
                        <a:solidFill>
                          <a:srgbClr val="161412"/>
                        </a:solidFill>
                        <a:latin typeface="Inter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Весь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хакатон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ежедневно</a:t>
                      </a:r>
                      <a:endParaRPr sz="1100" b="0" dirty="0">
                        <a:solidFill>
                          <a:srgbClr val="161412"/>
                        </a:solidFill>
                        <a:latin typeface="Inter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201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61412"/>
                          </a:solidFill>
                          <a:latin typeface="Inter"/>
                        </a:rPr>
                        <a:t>Кирдяшкин Максим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00" b="0" dirty="0">
                          <a:solidFill>
                            <a:srgbClr val="161412"/>
                          </a:solidFill>
                          <a:latin typeface="Inter"/>
                        </a:rPr>
                        <a:t>Инженер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: Auto Mode в Kilo и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система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тестирования</a:t>
                      </a:r>
                      <a:endParaRPr sz="1100" b="0" dirty="0">
                        <a:solidFill>
                          <a:srgbClr val="161412"/>
                        </a:solidFill>
                        <a:latin typeface="Inter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Исследование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Kilo CLI и ТЗ;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шлюз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правила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теневая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копия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песочница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аудит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;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автотесты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демо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стенд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и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прогоны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на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macOS;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документ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архитектуры</a:t>
                      </a:r>
                      <a:endParaRPr sz="1100" b="0" dirty="0">
                        <a:solidFill>
                          <a:srgbClr val="161412"/>
                        </a:solidFill>
                        <a:latin typeface="Inter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61412"/>
                          </a:solidFill>
                          <a:latin typeface="Inter"/>
                        </a:rPr>
                        <a:t>Весь хакатон, ежедневно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201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61412"/>
                          </a:solidFill>
                          <a:latin typeface="Inter"/>
                        </a:rPr>
                        <a:t>Межуева Екатерина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61412"/>
                          </a:solidFill>
                          <a:latin typeface="Inter"/>
                        </a:rPr>
                        <a:t>Инженер: методология проверок и ревью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Что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считать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атакой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и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успехом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в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стенде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;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карта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угроз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и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справочник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атак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;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шаблон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стенда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;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ревью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кода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перед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ключевыми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00" b="0" dirty="0">
                          <a:solidFill>
                            <a:srgbClr val="161412"/>
                          </a:solidFill>
                          <a:latin typeface="Inter"/>
                        </a:rPr>
                        <a:t>Весь хакатон, ежедневно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Google Shape;217;p27">
            <a:extLst>
              <a:ext uri="{FF2B5EF4-FFF2-40B4-BE49-F238E27FC236}">
                <a16:creationId xmlns:a16="http://schemas.microsoft.com/office/drawing/2014/main" id="{3C7C5703-9CC2-6352-F595-E3D777C54B17}"/>
              </a:ext>
            </a:extLst>
          </p:cNvPr>
          <p:cNvSpPr/>
          <p:nvPr/>
        </p:nvSpPr>
        <p:spPr>
          <a:xfrm>
            <a:off x="476250" y="957791"/>
            <a:ext cx="7606116" cy="503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600" b="1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Команда и распределение задач</a:t>
            </a:r>
            <a:endParaRPr sz="2625" i="0" u="none" strike="noStrike" cap="none" dirty="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2605218260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000000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206</TotalTime>
  <Words>882</Words>
  <Application>Microsoft Office PowerPoint</Application>
  <PresentationFormat>Экран (16:9)</PresentationFormat>
  <Paragraphs>97</Paragraphs>
  <Slides>7</Slides>
  <Notes>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1" baseType="lpstr">
      <vt:lpstr>Arial</vt:lpstr>
      <vt:lpstr>Calibri</vt:lpstr>
      <vt:lpstr>Inter</vt:lpstr>
      <vt:lpstr>Simple Light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Михаил Белоконь</cp:lastModifiedBy>
  <cp:revision>8</cp:revision>
  <dcterms:modified xsi:type="dcterms:W3CDTF">2026-09-07T05:53:13Z</dcterms:modified>
</cp:coreProperties>
</file>