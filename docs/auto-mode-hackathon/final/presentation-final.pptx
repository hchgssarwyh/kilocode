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8"/>
  </p:notesMasterIdLst>
  <p:sldIdLst>
    <p:sldId id="256" r:id="rId2"/>
    <p:sldId id="257" r:id="rId3"/>
    <p:sldId id="259" r:id="rId7"/>
    <p:sldId id="261" r:id="rId4"/>
    <p:sldId id="258" r:id="rId5"/>
    <p:sldId id="260" r:id="rId6"/>
    <p:sldId id="262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3E33"/>
    <a:srgbClr val="F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46" y="3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49cb922a79_1_1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249cb922a79_1_1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249cb922a79_1_2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C16BE681-CD6C-4648-ACA6-F61DABAAB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>
            <a:extLst>
              <a:ext uri="{FF2B5EF4-FFF2-40B4-BE49-F238E27FC236}">
                <a16:creationId xmlns:a16="http://schemas.microsoft.com/office/drawing/2014/main" id="{38EFAC85-15D8-3DFC-E52B-9802B6313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>
            <a:extLst>
              <a:ext uri="{FF2B5EF4-FFF2-40B4-BE49-F238E27FC236}">
                <a16:creationId xmlns:a16="http://schemas.microsoft.com/office/drawing/2014/main" id="{8725AE7F-B989-6B72-73EA-6C472A972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249cb922a79_1_29:notes">
            <a:extLst>
              <a:ext uri="{FF2B5EF4-FFF2-40B4-BE49-F238E27FC236}">
                <a16:creationId xmlns:a16="http://schemas.microsoft.com/office/drawing/2014/main" id="{2374C642-470C-666C-FCD7-B87C252FE1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2052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49cb922a79_1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49cb922a79_1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 mode для Kilo Code</a:t>
            </a: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4095750" cy="85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r>
              <a:rPr lang="ru" sz="12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: «Здесь могла быть реклама вашего банка»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Продуктовый менеджер: Белоконь Михаил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Инженеры продукта: Кирдяшкин Максим, Межуева Екатерина</a:t>
            </a:r>
            <a:endParaRPr lang="ru" sz="1200" dirty="0">
              <a:solidFill>
                <a:schemeClr val="bg1"/>
              </a:solidFill>
              <a:ea typeface="Calibri"/>
            </a:endParaRPr>
          </a:p>
        </p:txBody>
      </p:sp>
      <p:pic>
        <p:nvPicPr>
          <p:cNvPr id="75" name="Google Shape;75;p16" descr="https://pitch-assets-ccb95893-de3f-4266-973c-20049231b248.s3.eu-west-1.amazonaws.com/0e85026a-008d-4f73-b555-d556e9b7acd4?pitch-bytes=4898&amp;pitch-content-type=image%2Fsvg%2Bxm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4304" y="390312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https://pitch-assets-ccb95893-de3f-4266-973c-20049231b248.s3.eu-west-1.amazonaws.com/efa381c9-5c10-4380-abee-d4f3f03ddc9d?pitch-bytes=3032&amp;pitch-content-type=image%2Fsvg%2Bxm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7400" y="4419600"/>
            <a:ext cx="2413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5074073" y="158109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/>
              <a:t>Проверка действий ИИ-агента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ru-RU" sz="1200" dirty="0"/>
              <a:t>потенциально опасное действие сначала выполняется в безопасной среде, фактические изменения сверяются с заявленным списком, и в проект попадает только проверенное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6250" y="1578879"/>
            <a:ext cx="3869400" cy="143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Проблема: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dirty="0"/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подтверждать каждый шаг утомительно, человек начинает разрешать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не глядя</a:t>
            </a:r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разрешить всё сразу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опасно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украденные ключи, удалённые данные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5071521" y="258756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69158" y="4193608"/>
            <a:ext cx="2259741" cy="66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 атак закрыт полностью: подброшенный автозапуск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366235" y="368142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931240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4931240" y="257175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30983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6;p18">
            <a:extLst>
              <a:ext uri="{FF2B5EF4-FFF2-40B4-BE49-F238E27FC236}">
                <a16:creationId xmlns:a16="http://schemas.microsoft.com/office/drawing/2014/main" id="{C53C288E-F27A-3589-04F3-29300F0E0FD9}"/>
              </a:ext>
            </a:extLst>
          </p:cNvPr>
          <p:cNvSpPr/>
          <p:nvPr/>
        </p:nvSpPr>
        <p:spPr>
          <a:xfrm>
            <a:off x="3714750" y="4194230"/>
            <a:ext cx="5129951" cy="92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 err="1"/>
              <a:t>автопроверок</a:t>
            </a:r>
            <a:r>
              <a:rPr lang="ru-RU" sz="1200" dirty="0"/>
              <a:t> — каждое правило проверено отдельно</a:t>
            </a:r>
            <a:r>
              <a:rPr lang="en-US" sz="1200" dirty="0"/>
              <a:t>;</a:t>
            </a:r>
            <a:endParaRPr lang="ru-RU" sz="1200" dirty="0"/>
          </a:p>
          <a:p>
            <a:pPr lvl="0"/>
            <a:r>
              <a:rPr lang="ru-RU" sz="1200" b="1" dirty="0"/>
              <a:t>+</a:t>
            </a:r>
          </a:p>
          <a:p>
            <a:pPr lvl="0"/>
            <a:r>
              <a:rPr lang="ru-RU" sz="1200" b="1" dirty="0"/>
              <a:t>классов атак </a:t>
            </a:r>
            <a:r>
              <a:rPr lang="ru-RU" sz="1200" dirty="0"/>
              <a:t>— по категориям MITRE ATT&amp;CK и OWASP LLM Top 10</a:t>
            </a:r>
            <a:endParaRPr lang="ru-RU" sz="1200" b="1" dirty="0"/>
          </a:p>
        </p:txBody>
      </p:sp>
      <p:sp>
        <p:nvSpPr>
          <p:cNvPr id="7" name="Google Shape;100;p18">
            <a:extLst>
              <a:ext uri="{FF2B5EF4-FFF2-40B4-BE49-F238E27FC236}">
                <a16:creationId xmlns:a16="http://schemas.microsoft.com/office/drawing/2014/main" id="{9A015ADF-7340-6F8A-8832-DC4EB37325BF}"/>
              </a:ext>
            </a:extLst>
          </p:cNvPr>
          <p:cNvSpPr/>
          <p:nvPr/>
        </p:nvSpPr>
        <p:spPr>
          <a:xfrm>
            <a:off x="371475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104+5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5" grpId="0"/>
      <p:bldP spid="99" grpId="0"/>
      <p:bldP spid="103" grpId="0"/>
      <p:bldP spid="4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>
          <a:extLst>
            <a:ext uri="{FF2B5EF4-FFF2-40B4-BE49-F238E27FC236}">
              <a16:creationId xmlns:a16="http://schemas.microsoft.com/office/drawing/2014/main" id="{B6B10CF1-B353-7900-D619-FB431B3C2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>
            <a:extLst>
              <a:ext uri="{FF2B5EF4-FFF2-40B4-BE49-F238E27FC236}">
                <a16:creationId xmlns:a16="http://schemas.microsoft.com/office/drawing/2014/main" id="{71622175-24FE-E3A5-53A2-8823ED2933BF}"/>
              </a:ext>
            </a:extLst>
          </p:cNvPr>
          <p:cNvSpPr/>
          <p:nvPr/>
        </p:nvSpPr>
        <p:spPr>
          <a:xfrm>
            <a:off x="619083" y="160897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Защитный слой для ИИ-агента: </a:t>
            </a:r>
            <a:r>
              <a:rPr lang="ru-RU" sz="1200" dirty="0"/>
              <a:t>п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отенциально опасное действие сначала выполняется в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безопасной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среде, а в проект попадает только после проверки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5FFBE800-2201-2B21-3378-34B5D3DF618F}"/>
              </a:ext>
            </a:extLst>
          </p:cNvPr>
          <p:cNvSpPr/>
          <p:nvPr/>
        </p:nvSpPr>
        <p:spPr>
          <a:xfrm>
            <a:off x="616531" y="261544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8">
            <a:extLst>
              <a:ext uri="{FF2B5EF4-FFF2-40B4-BE49-F238E27FC236}">
                <a16:creationId xmlns:a16="http://schemas.microsoft.com/office/drawing/2014/main" id="{C6940167-061A-388B-EC20-E1D2B75C03E2}"/>
              </a:ext>
            </a:extLst>
          </p:cNvPr>
          <p:cNvSpPr/>
          <p:nvPr/>
        </p:nvSpPr>
        <p:spPr>
          <a:xfrm>
            <a:off x="533482" y="4382824"/>
            <a:ext cx="2191429" cy="508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</a:t>
            </a: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одели в живом тестировании: </a:t>
            </a:r>
            <a:r>
              <a:rPr lang="ru-RU" dirty="0" err="1"/>
              <a:t>kilo</a:t>
            </a:r>
            <a:r>
              <a:rPr lang="ru-RU" dirty="0"/>
              <a:t>/</a:t>
            </a:r>
            <a:r>
              <a:rPr lang="ru-RU" dirty="0" err="1"/>
              <a:t>stepfun</a:t>
            </a:r>
            <a:r>
              <a:rPr lang="ru-RU" dirty="0"/>
              <a:t>/step-3.7-flash · 132 запуска на двух платформах: атаки 78% → 0%, задачи 20 из 21; вторая модель nvidia/nemotron-3-super-120b · 16 запусков: атаки 7 из 8 → 0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8">
            <a:extLst>
              <a:ext uri="{FF2B5EF4-FFF2-40B4-BE49-F238E27FC236}">
                <a16:creationId xmlns:a16="http://schemas.microsoft.com/office/drawing/2014/main" id="{27158D2B-81C7-1721-ACF9-BCC1200E8793}"/>
              </a:ext>
            </a:extLst>
          </p:cNvPr>
          <p:cNvSpPr/>
          <p:nvPr/>
        </p:nvSpPr>
        <p:spPr>
          <a:xfrm>
            <a:off x="532650" y="387074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>
            <a:extLst>
              <a:ext uri="{FF2B5EF4-FFF2-40B4-BE49-F238E27FC236}">
                <a16:creationId xmlns:a16="http://schemas.microsoft.com/office/drawing/2014/main" id="{A3DC1F7D-3F06-A60E-2437-7F78A32377DE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2CF1D5B1-77D5-7619-3C47-D4C5681169B6}"/>
              </a:ext>
            </a:extLst>
          </p:cNvPr>
          <p:cNvSpPr/>
          <p:nvPr/>
        </p:nvSpPr>
        <p:spPr>
          <a:xfrm>
            <a:off x="476250" y="78423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>
            <a:extLst>
              <a:ext uri="{FF2B5EF4-FFF2-40B4-BE49-F238E27FC236}">
                <a16:creationId xmlns:a16="http://schemas.microsoft.com/office/drawing/2014/main" id="{EFE175EE-204D-3105-17FB-1AE1FCA7D4C1}"/>
              </a:ext>
            </a:extLst>
          </p:cNvPr>
          <p:cNvSpPr/>
          <p:nvPr/>
        </p:nvSpPr>
        <p:spPr>
          <a:xfrm>
            <a:off x="476250" y="160675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>
            <a:extLst>
              <a:ext uri="{FF2B5EF4-FFF2-40B4-BE49-F238E27FC236}">
                <a16:creationId xmlns:a16="http://schemas.microsoft.com/office/drawing/2014/main" id="{C26F984B-9133-8B1B-3A0A-6651232A5509}"/>
              </a:ext>
            </a:extLst>
          </p:cNvPr>
          <p:cNvSpPr/>
          <p:nvPr/>
        </p:nvSpPr>
        <p:spPr>
          <a:xfrm>
            <a:off x="476250" y="259963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>
            <a:extLst>
              <a:ext uri="{FF2B5EF4-FFF2-40B4-BE49-F238E27FC236}">
                <a16:creationId xmlns:a16="http://schemas.microsoft.com/office/drawing/2014/main" id="{4801E6CE-3259-F280-6E1F-6D6C5807B0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F743D4-57C1-6E9F-A9C0-4567A39435A2}"/>
              </a:ext>
            </a:extLst>
          </p:cNvPr>
          <p:cNvSpPr txBox="1"/>
          <p:nvPr/>
        </p:nvSpPr>
        <p:spPr>
          <a:xfrm>
            <a:off x="4839580" y="1520502"/>
            <a:ext cx="407664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Покрываемые сценарии при тестировании:</a:t>
            </a:r>
          </a:p>
          <a:p>
            <a:pPr lvl="0"/>
            <a:endParaRPr lang="ru-RU" sz="12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00B050"/>
                </a:solidFill>
              </a:rPr>
              <a:t>обычная работа</a:t>
            </a:r>
            <a:r>
              <a:rPr lang="ru-RU" sz="1200" dirty="0">
                <a:solidFill>
                  <a:srgbClr val="00B050"/>
                </a:solidFill>
              </a:rPr>
              <a:t> </a:t>
            </a:r>
            <a:r>
              <a:rPr lang="ru-RU" sz="1200" dirty="0"/>
              <a:t>— правка кода и локальный тест проходят без вмешательства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инъекция в README</a:t>
            </a:r>
            <a:r>
              <a:rPr lang="ru-RU" sz="1200" dirty="0"/>
              <a:t> — вредный результат отброшен, агент перепланировал работу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скрытый автозапуск</a:t>
            </a:r>
            <a:r>
              <a:rPr lang="ru-RU" sz="1200" dirty="0"/>
              <a:t> — подброшенный файл обнаружен на проверке после безопасного выполнения и не попал в проект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скачать и выполнить</a:t>
            </a:r>
            <a:r>
              <a:rPr lang="ru-RU" sz="1200" dirty="0"/>
              <a:t> — команда вида «загрузить скрипт и запустить» отклонена до выполнения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подозрительный источник пакета</a:t>
            </a:r>
            <a:r>
              <a:rPr lang="ru-RU" sz="1200" dirty="0"/>
              <a:t> — установка из непроверенного источника отклонена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неизвестный инструмент</a:t>
            </a:r>
            <a:r>
              <a:rPr lang="ru-RU" sz="1200" dirty="0"/>
              <a:t> — незнакомый инструмент заблокирован по умолчанию</a:t>
            </a:r>
          </a:p>
          <a:p>
            <a:endParaRPr lang="ru-RU" sz="1200" dirty="0"/>
          </a:p>
          <a:p>
            <a:endParaRPr lang="ru-RU" sz="1200" dirty="0"/>
          </a:p>
          <a:p>
            <a:endParaRPr lang="ru-RU" sz="1200" dirty="0"/>
          </a:p>
        </p:txBody>
      </p:sp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3C2C518D-3362-BB73-DF91-C2812232A31C}"/>
              </a:ext>
            </a:extLst>
          </p:cNvPr>
          <p:cNvSpPr/>
          <p:nvPr/>
        </p:nvSpPr>
        <p:spPr>
          <a:xfrm>
            <a:off x="2924253" y="4382932"/>
            <a:ext cx="1715700" cy="480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задержка шлюза на одно решение, macOS; WSL2 до 38 мс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1;p18">
            <a:extLst>
              <a:ext uri="{FF2B5EF4-FFF2-40B4-BE49-F238E27FC236}">
                <a16:creationId xmlns:a16="http://schemas.microsoft.com/office/drawing/2014/main" id="{560DAEC7-6FE3-2D89-0ED9-6D7320A283F9}"/>
              </a:ext>
            </a:extLst>
          </p:cNvPr>
          <p:cNvSpPr/>
          <p:nvPr/>
        </p:nvSpPr>
        <p:spPr>
          <a:xfrm>
            <a:off x="2924395" y="387074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≤25ms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6439545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2" grpId="0"/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demo-title"/>
          <p:cNvSpPr>
            <a:spLocks noGrp="1"/>
          </p:cNvSpPr>
          <p:nvPr/>
        </p:nvSpPr>
        <p:spPr>
          <a:xfrm>
            <a:off x="469900" y="914400"/>
            <a:ext cx="11430000" cy="762000"/>
          </a:xfrm>
          <a:prstGeom prst="rect">
            <a:avLst/>
          </a:prstGeom>
        </p:spPr>
        <p:txBody>
          <a:bodyPr/>
          <a:lstStyle/>
          <a:p>
            <a:r>
              <a:rPr lang="ru-RU" sz="2800" b="1">
                <a:solidFill>
                  <a:srgbClr val="FFFFFF"/>
                </a:solidFill>
              </a:rPr>
              <a:t>Один сценарий: без защиты и с защитой</a:t>
            </a:r>
          </a:p>
        </p:txBody>
      </p:sp>
      <p:sp>
        <p:nvSpPr>
          <p:cNvPr id="971" name="card0"/>
          <p:cNvSpPr/>
          <p:nvPr/>
        </p:nvSpPr>
        <p:spPr>
          <a:xfrm>
            <a:off x="469900" y="16764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1 · ОДИН СЦЕНАРИЙ</a:t>
            </a:r>
          </a:p>
          <a:p>
            <a:r>
              <a:rPr lang="ru-RU" sz="1600" b="1">
                <a:solidFill>
                  <a:srgbClr val="161412"/>
                </a:solidFill>
              </a:rPr>
              <a:t>Агент чинит баг и читает README со спрятанной инструкцией</a:t>
            </a:r>
          </a:p>
        </p:txBody>
      </p:sp>
      <p:sp>
        <p:nvSpPr>
          <p:cNvPr id="972" name="card1"/>
          <p:cNvSpPr/>
          <p:nvPr/>
        </p:nvSpPr>
        <p:spPr>
          <a:xfrm>
            <a:off x="469900" y="24765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11318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2 · БЕЗ ЗАЩИТЫ (--auto)</a:t>
            </a:r>
          </a:p>
          <a:p>
            <a:r>
              <a:rPr lang="ru-RU" sz="1600" b="1">
                <a:solidFill>
                  <a:srgbClr val="FFFFFF"/>
                </a:solidFill>
              </a:rPr>
              <a:t>Агент поддаётся — файл автозапуска появляется в проекте</a:t>
            </a:r>
          </a:p>
        </p:txBody>
      </p:sp>
      <p:sp>
        <p:nvSpPr>
          <p:cNvPr id="973" name="card2"/>
          <p:cNvSpPr/>
          <p:nvPr/>
        </p:nvSpPr>
        <p:spPr>
          <a:xfrm>
            <a:off x="469900" y="32766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3 · С ЗАЩИТОЙ (auto mode)</a:t>
            </a:r>
          </a:p>
          <a:p>
            <a:r>
              <a:rPr lang="ru-RU" sz="1600" b="1">
                <a:solidFill>
                  <a:srgbClr val="161412"/>
                </a:solidFill>
              </a:rPr>
              <a:t>Действие выполняется в копии, эффект проверяется по факту</a:t>
            </a:r>
          </a:p>
        </p:txBody>
      </p:sp>
      <p:sp>
        <p:nvSpPr>
          <p:cNvPr id="974" name="card3"/>
          <p:cNvSpPr/>
          <p:nvPr/>
        </p:nvSpPr>
        <p:spPr>
          <a:xfrm>
            <a:off x="469900" y="40767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61412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4 · ИТОГ</a:t>
            </a:r>
          </a:p>
          <a:p>
            <a:r>
              <a:rPr lang="ru-RU" sz="1600" b="1">
                <a:solidFill>
                  <a:srgbClr val="8FD49B"/>
                </a:solidFill>
              </a:rPr>
              <a:t>DENY — файла нет в проекте, починка бага применена, агент продолжил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Работает в Kilo Code — дальше в 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сообщество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1714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PoC 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Kilo Code: правила, изолированная копия, перенос только после проверки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868896" cy="1426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Демо 6 сценариев, хеш решений совпал на macOS и Linux</a:t>
            </a: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живой A/B на 132 запусках: без защиты атаки проходят в 78%, с защитой — 0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1"/>
            <a:ext cx="1716600" cy="120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Расширение покрытия тестами, уточнение метрик, </a:t>
            </a:r>
            <a:r>
              <a:rPr lang="ru" sz="1200" dirty="0"/>
              <a:t>о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формление </a:t>
            </a: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 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сообщество </a:t>
            </a:r>
            <a:r>
              <a:rPr lang="en-US" sz="1200" dirty="0"/>
              <a:t>Kilo Code </a:t>
            </a:r>
            <a:r>
              <a:rPr lang="ru-RU" sz="1200" dirty="0"/>
              <a:t>для продвижения нашего подхода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Попробуйте подход в своей работе — это расширит набор тестов и уточнит оценку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Готово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Тесты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Запрос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F2F2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609600" y="508000"/>
            <a:ext cx="762762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Смотрим эффект, а не </a:t>
            </a:r>
            <a:r>
              <a:rPr lang="ru-RU" sz="2600" b="1" dirty="0">
                <a:latin typeface="Inter"/>
                <a:ea typeface="Inter"/>
                <a:cs typeface="Inter"/>
                <a:sym typeface="Inter"/>
              </a:rPr>
              <a:t>процесс </a:t>
            </a: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1" name="mod0"/>
          <p:cNvSpPr/>
          <p:nvPr/>
        </p:nvSpPr>
        <p:spPr>
          <a:xfrm>
            <a:off x="469900" y="11582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A · ПЕРЕХВАТ</a:t>
            </a:r>
            <a:r>
              <a:rPr lang="ru-RU" sz="1200">
                <a:solidFill>
                  <a:srgbClr val="161412"/>
                </a:solidFill>
              </a:rPr>
              <a:t>   Все действия агента идут через одну точку — обойти нельзя</a:t>
            </a:r>
          </a:p>
        </p:txBody>
      </p:sp>
      <p:sp>
        <p:nvSpPr>
          <p:cNvPr id="972" name="mod1"/>
          <p:cNvSpPr/>
          <p:nvPr/>
        </p:nvSpPr>
        <p:spPr>
          <a:xfrm>
            <a:off x="469900" y="17043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B · РАЗБОР</a:t>
            </a:r>
            <a:r>
              <a:rPr lang="ru-RU" sz="1200" dirty="0">
                <a:solidFill>
                  <a:srgbClr val="161412"/>
                </a:solidFill>
              </a:rPr>
              <a:t>   Что действие меняет: файлы, сеть, установку пакетов</a:t>
            </a:r>
          </a:p>
        </p:txBody>
      </p:sp>
      <p:sp>
        <p:nvSpPr>
          <p:cNvPr id="973" name="mod2"/>
          <p:cNvSpPr/>
          <p:nvPr/>
        </p:nvSpPr>
        <p:spPr>
          <a:xfrm>
            <a:off x="469900" y="22504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C93E33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F6D8D5"/>
                </a:solidFill>
              </a:rPr>
              <a:t>C · ПРАВИЛА</a:t>
            </a:r>
            <a:r>
              <a:rPr lang="ru-RU" sz="1200" dirty="0">
                <a:solidFill>
                  <a:srgbClr val="FFFFFF"/>
                </a:solidFill>
              </a:rPr>
              <a:t>   Жёсткие проверки по эффектам. Потенциально опасный текст сюда не доходит — только данные</a:t>
            </a:r>
          </a:p>
        </p:txBody>
      </p:sp>
      <p:sp>
        <p:nvSpPr>
          <p:cNvPr id="974" name="mod3"/>
          <p:cNvSpPr/>
          <p:nvPr/>
        </p:nvSpPr>
        <p:spPr>
          <a:xfrm>
            <a:off x="469900" y="27965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D · ПРОВЕРКА ПО ФАКТУ</a:t>
            </a:r>
            <a:r>
              <a:rPr lang="ru-RU" sz="1200">
                <a:solidFill>
                  <a:srgbClr val="161412"/>
                </a:solidFill>
              </a:rPr>
              <a:t>   Снимок состояния до и после: видно, что произошло на самом деле</a:t>
            </a:r>
          </a:p>
        </p:txBody>
      </p:sp>
      <p:sp>
        <p:nvSpPr>
          <p:cNvPr id="975" name="mod4"/>
          <p:cNvSpPr/>
          <p:nvPr/>
        </p:nvSpPr>
        <p:spPr>
          <a:xfrm>
            <a:off x="469900" y="33426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E · ОТВЕТ</a:t>
            </a:r>
            <a:r>
              <a:rPr lang="ru-RU" sz="1200" dirty="0">
                <a:solidFill>
                  <a:srgbClr val="161412"/>
                </a:solidFill>
              </a:rPr>
              <a:t>   Машинный ответ агенту без текста из внешних источников</a:t>
            </a:r>
          </a:p>
        </p:txBody>
      </p:sp>
      <p:sp>
        <p:nvSpPr>
          <p:cNvPr id="988" name="tech-note"/>
          <p:cNvSpPr/>
          <p:nvPr/>
        </p:nvSpPr>
        <p:spPr>
          <a:xfrm>
            <a:off x="469900" y="4467860"/>
            <a:ext cx="8674100" cy="508000"/>
          </a:xfrm>
          <a:prstGeom prst="rect">
            <a:avLst/>
          </a:prstGeom>
        </p:spPr>
        <p:txBody>
          <a:bodyPr/>
          <a:lstStyle/>
          <a:p>
            <a:r>
              <a:rPr lang="ru-RU" sz="1000" i="1" dirty="0">
                <a:solidFill>
                  <a:srgbClr val="7A7A7A"/>
                </a:solidFill>
              </a:rPr>
              <a:t>Ограничения: подмену инструкций в тексте не распознаём, ограничиваем последствия; необратимые внешние действия вхолостую не проверить, остаётся вопрос человеку; вредоносный код внутри разрешённой правки выглядит легитимно; атаки, растянутые на несколько шагов, сравниваем по одному действию</a:t>
            </a:r>
          </a:p>
        </p:txBody>
      </p:sp>
      <p:sp>
        <p:nvSpPr>
          <p:cNvPr id="5" name="mod5">
            <a:extLst>
              <a:ext uri="{FF2B5EF4-FFF2-40B4-BE49-F238E27FC236}">
                <a16:creationId xmlns:a16="http://schemas.microsoft.com/office/drawing/2014/main" id="{25DB1C03-7B85-7079-F2A3-ED0A7903D4FB}"/>
              </a:ext>
            </a:extLst>
          </p:cNvPr>
          <p:cNvSpPr/>
          <p:nvPr/>
        </p:nvSpPr>
        <p:spPr>
          <a:xfrm>
            <a:off x="469900" y="390398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F · ПАКЕТЫ</a:t>
            </a:r>
            <a:r>
              <a:rPr lang="ru-RU" sz="1200" dirty="0">
                <a:solidFill>
                  <a:srgbClr val="161412"/>
                </a:solidFill>
              </a:rPr>
              <a:t>   Новая или подозрительная зависимость идёт на вопрос до установки; lifecycle-скрипт пакета ловится по факту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" grpId="0" animBg="1"/>
      <p:bldP spid="973" grpId="0" animBg="1"/>
      <p:bldP spid="974" grpId="0" animBg="1"/>
      <p:bldP spid="975" grpId="0" animBg="1"/>
      <p:bldP spid="988" grpId="0"/>
      <p:bldP spid="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Команда и распределение задач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/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218" name="Table 217"/>
          <p:cNvGraphicFramePr>
            <a:graphicFrameLocks noGrp="1"/>
          </p:cNvGraphicFramePr>
          <p:nvPr/>
        </p:nvGraphicFramePr>
        <p:xfrm>
          <a:off x="548640" y="1337310"/>
          <a:ext cx="8046719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409"/>
                <a:gridCol w="2092147"/>
                <a:gridCol w="3218688"/>
                <a:gridCol w="1287475"/>
              </a:tblGrid>
              <a:tr h="7715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Участник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Роль и зона ответственности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Что сделано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Участие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Белоконь Михаил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Продакт и проджект: постановка, метрики, материалы, приёмка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Границы MVP и критерии; конкурентный анализ 30+; продуктовые материалы и колода; живые прогоны на модели, найденные дефекты и доработки; синхронизация артефактов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Кирдяшкин Максим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Ведущий инженер: Auto Mode в Kilo и система тестирования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Исследование Kilo CLI и ТЗ; шлюз, правила, теневая копия, песочница, аудит; автотесты, демо, стенд и прогоны на macOS; документ архитектуры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Межуева Екатерина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Инженер: методология проверок и ревью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Что считать атакой и успехом в стенде; карта угроз и справочник атак; шаблон стенда; ревью кода перед ключевыми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На отдельных этапах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546</Words>
  <Application>Microsoft Office PowerPoint</Application>
  <PresentationFormat>Экран (16:9)</PresentationFormat>
  <Paragraphs>69</Paragraphs>
  <Slides>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Inter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Михаил Белоконь</cp:lastModifiedBy>
  <cp:revision>5</cp:revision>
  <dcterms:modified xsi:type="dcterms:W3CDTF">2026-09-06T09:51:50Z</dcterms:modified>
</cp:coreProperties>
</file>