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1" r:id="rId1"/>
  </p:sldMasterIdLst>
  <p:notesMasterIdLst>
    <p:notesMasterId r:id="rId8"/>
  </p:notesMasterIdLst>
  <p:sldIdLst>
    <p:sldId id="256" r:id="rId2"/>
    <p:sldId id="257" r:id="rId3"/>
    <p:sldId id="261" r:id="rId4"/>
    <p:sldId id="258" r:id="rId5"/>
    <p:sldId id="260" r:id="rId6"/>
    <p:sldId id="259" r:id="rId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93E33"/>
    <a:srgbClr val="FFF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46" y="39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249cb922a79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0" name="Google Shape;70;g249cb922a79_1_11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g249cb922a79_1_11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49cb922a79_1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g249cb922a79_1_29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g249cb922a79_1_29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C16BE681-CD6C-4648-ACA6-F61DABAAB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49cb922a79_1_29:notes">
            <a:extLst>
              <a:ext uri="{FF2B5EF4-FFF2-40B4-BE49-F238E27FC236}">
                <a16:creationId xmlns:a16="http://schemas.microsoft.com/office/drawing/2014/main" id="{38EFAC85-15D8-3DFC-E52B-9802B6313A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g249cb922a79_1_29:notes">
            <a:extLst>
              <a:ext uri="{FF2B5EF4-FFF2-40B4-BE49-F238E27FC236}">
                <a16:creationId xmlns:a16="http://schemas.microsoft.com/office/drawing/2014/main" id="{8725AE7F-B989-6B72-73EA-6C472A9728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g249cb922a79_1_29:notes">
            <a:extLst>
              <a:ext uri="{FF2B5EF4-FFF2-40B4-BE49-F238E27FC236}">
                <a16:creationId xmlns:a16="http://schemas.microsoft.com/office/drawing/2014/main" id="{2374C642-470C-666C-FCD7-B87C252FE16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220520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249cb922a79_1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2" name="Google Shape;212;g249cb922a79_1_143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3" name="Google Shape;213;g249cb922a79_1_143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5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49cb922a79_1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g249cb922a79_1_81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g249cb922a79_1_81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 1">
  <p:cSld name="Титульный слайд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4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5" name="Google Shape;55;p14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93E33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/>
          <p:nvPr/>
        </p:nvSpPr>
        <p:spPr>
          <a:xfrm>
            <a:off x="476250" y="2258372"/>
            <a:ext cx="67395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38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Auto mode для Kilo Code</a:t>
            </a:r>
            <a:endParaRPr sz="3800" i="0" u="none" strike="noStrike" cap="non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800" i="0" u="none" strike="noStrike" cap="non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4" name="Google Shape;74;p16"/>
          <p:cNvSpPr/>
          <p:nvPr/>
        </p:nvSpPr>
        <p:spPr>
          <a:xfrm>
            <a:off x="476250" y="3569481"/>
            <a:ext cx="4095750" cy="850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0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Команда</a:t>
            </a:r>
            <a:r>
              <a:rPr lang="ru" sz="1200" b="1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: «Здесь могла быть реклама вашего банка»</a:t>
            </a: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" sz="1200" b="1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Продуктовый менеджер: Белоконь Михаил</a:t>
            </a: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Инженеры продукта: Кирдяшкин Максим, Межуева Екатерина</a:t>
            </a:r>
            <a:endParaRPr lang="ru" sz="1200" dirty="0">
              <a:solidFill>
                <a:schemeClr val="bg1"/>
              </a:solidFill>
              <a:ea typeface="Calibri"/>
            </a:endParaRPr>
          </a:p>
        </p:txBody>
      </p:sp>
      <p:pic>
        <p:nvPicPr>
          <p:cNvPr id="75" name="Google Shape;75;p16" descr="https://pitch-assets-ccb95893-de3f-4266-973c-20049231b248.s3.eu-west-1.amazonaws.com/0e85026a-008d-4f73-b555-d556e9b7acd4?pitch-bytes=4898&amp;pitch-content-type=image%2Fsvg%2Bxm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74304" y="3903121"/>
            <a:ext cx="707491" cy="19137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6" descr="https://pitch-assets-ccb95893-de3f-4266-973c-20049231b248.s3.eu-west-1.amazonaws.com/efa381c9-5c10-4380-abee-d4f3f03ddc9d?pitch-bytes=3032&amp;pitch-content-type=image%2Fsvg%2Bxml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07400" y="4419600"/>
            <a:ext cx="241300" cy="368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01422" y="307125"/>
            <a:ext cx="1673574" cy="462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FF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8"/>
          <p:cNvSpPr/>
          <p:nvPr/>
        </p:nvSpPr>
        <p:spPr>
          <a:xfrm>
            <a:off x="5074073" y="1581090"/>
            <a:ext cx="3873000" cy="8062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ru-RU" sz="1200" b="1" dirty="0"/>
              <a:t>Проверка действий ИИ-агента</a:t>
            </a:r>
            <a:r>
              <a:rPr lang="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ru-RU" sz="1200" dirty="0"/>
              <a:t>потенциально опасное действие сначала выполняется в безопасной среде, фактические изменения сверяются с заявленным списком, и в проект попадает только проверенное</a:t>
            </a:r>
            <a:endParaRPr sz="120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8"/>
          <p:cNvSpPr/>
          <p:nvPr/>
        </p:nvSpPr>
        <p:spPr>
          <a:xfrm>
            <a:off x="476250" y="1578879"/>
            <a:ext cx="3869400" cy="14385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Проблема:</a:t>
            </a:r>
            <a:r>
              <a:rPr lang="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" sz="1200" dirty="0"/>
          </a:p>
          <a:p>
            <a:pPr marL="171450" marR="0" lvl="0" indent="-17145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подтверждать каждый шаг утомительно, человек начинает разрешать </a:t>
            </a:r>
            <a:r>
              <a:rPr lang="ru-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не глядя</a:t>
            </a:r>
          </a:p>
          <a:p>
            <a:pPr marL="171450" marR="0" lvl="0" indent="-17145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разрешить всё сразу </a:t>
            </a:r>
            <a:r>
              <a:rPr lang="ru-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опасно</a:t>
            </a:r>
            <a:r>
              <a:rPr lang="ru-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украденные ключи, удалённые данные</a:t>
            </a: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" sz="120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8"/>
          <p:cNvSpPr/>
          <p:nvPr/>
        </p:nvSpPr>
        <p:spPr>
          <a:xfrm>
            <a:off x="5071521" y="2587565"/>
            <a:ext cx="3873600" cy="820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Ценность:</a:t>
            </a:r>
            <a:r>
              <a:rPr lang="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автономность работы агента без цены в виде инцидента — обычная работа без вопросов, вредное не проходит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8"/>
          <p:cNvSpPr/>
          <p:nvPr/>
        </p:nvSpPr>
        <p:spPr>
          <a:xfrm>
            <a:off x="369158" y="4193608"/>
            <a:ext cx="2259741" cy="66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класс атак закрыт полностью: подброшенный автозапуск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8"/>
          <p:cNvSpPr/>
          <p:nvPr/>
        </p:nvSpPr>
        <p:spPr>
          <a:xfrm>
            <a:off x="366235" y="3681427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sz="2625" i="0" u="none" strike="noStrike" cap="none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4" name="Google Shape;104;p18"/>
          <p:cNvSpPr/>
          <p:nvPr/>
        </p:nvSpPr>
        <p:spPr>
          <a:xfrm>
            <a:off x="8173388" y="416837"/>
            <a:ext cx="494100" cy="26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058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8"/>
          <p:cNvSpPr/>
          <p:nvPr/>
        </p:nvSpPr>
        <p:spPr>
          <a:xfrm>
            <a:off x="476250" y="906158"/>
            <a:ext cx="690753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Автономность за счет улучшения архитектуры</a:t>
            </a:r>
            <a:endParaRPr sz="2625" i="0" u="none" strike="noStrike" cap="none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6" name="Google Shape;106;p18"/>
          <p:cNvSpPr/>
          <p:nvPr/>
        </p:nvSpPr>
        <p:spPr>
          <a:xfrm>
            <a:off x="4931240" y="1578879"/>
            <a:ext cx="56400" cy="2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>
                <a:solidFill>
                  <a:srgbClr val="8F2F27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8"/>
          <p:cNvSpPr/>
          <p:nvPr/>
        </p:nvSpPr>
        <p:spPr>
          <a:xfrm>
            <a:off x="4931240" y="2571750"/>
            <a:ext cx="56400" cy="2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>
                <a:solidFill>
                  <a:srgbClr val="8F2F27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8"/>
          <p:cNvSpPr/>
          <p:nvPr/>
        </p:nvSpPr>
        <p:spPr>
          <a:xfrm>
            <a:off x="309835" y="1578879"/>
            <a:ext cx="56400" cy="2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>
                <a:solidFill>
                  <a:srgbClr val="8F2F27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9" name="Google Shape;109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6250" y="320900"/>
            <a:ext cx="1536343" cy="4246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96;p18">
            <a:extLst>
              <a:ext uri="{FF2B5EF4-FFF2-40B4-BE49-F238E27FC236}">
                <a16:creationId xmlns:a16="http://schemas.microsoft.com/office/drawing/2014/main" id="{C53C288E-F27A-3589-04F3-29300F0E0FD9}"/>
              </a:ext>
            </a:extLst>
          </p:cNvPr>
          <p:cNvSpPr/>
          <p:nvPr/>
        </p:nvSpPr>
        <p:spPr>
          <a:xfrm>
            <a:off x="3714750" y="4194230"/>
            <a:ext cx="5129951" cy="9289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ru-RU" sz="1200" b="1" dirty="0" err="1"/>
              <a:t>автопроверок</a:t>
            </a:r>
            <a:r>
              <a:rPr lang="ru-RU" sz="1200" dirty="0"/>
              <a:t> — каждое правило проверено отдельно</a:t>
            </a:r>
            <a:r>
              <a:rPr lang="en-US" sz="1200" dirty="0"/>
              <a:t>;</a:t>
            </a:r>
            <a:endParaRPr lang="ru-RU" sz="1200" dirty="0"/>
          </a:p>
          <a:p>
            <a:pPr lvl="0"/>
            <a:r>
              <a:rPr lang="ru-RU" sz="1200" b="1" dirty="0"/>
              <a:t>+</a:t>
            </a:r>
          </a:p>
          <a:p>
            <a:pPr lvl="0"/>
            <a:r>
              <a:rPr lang="ru-RU" sz="1200" b="1" dirty="0"/>
              <a:t>классов атак </a:t>
            </a:r>
            <a:r>
              <a:rPr lang="ru-RU" sz="1200" dirty="0"/>
              <a:t>— по категориям MITRE ATT&amp;CK и OWASP LLM Top 10</a:t>
            </a:r>
            <a:endParaRPr lang="ru-RU" sz="1200" b="1" dirty="0"/>
          </a:p>
        </p:txBody>
      </p:sp>
      <p:sp>
        <p:nvSpPr>
          <p:cNvPr id="7" name="Google Shape;100;p18">
            <a:extLst>
              <a:ext uri="{FF2B5EF4-FFF2-40B4-BE49-F238E27FC236}">
                <a16:creationId xmlns:a16="http://schemas.microsoft.com/office/drawing/2014/main" id="{9A015ADF-7340-6F8A-8832-DC4EB37325BF}"/>
              </a:ext>
            </a:extLst>
          </p:cNvPr>
          <p:cNvSpPr/>
          <p:nvPr/>
        </p:nvSpPr>
        <p:spPr>
          <a:xfrm>
            <a:off x="3714750" y="3702162"/>
            <a:ext cx="1714500" cy="444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i="0" u="none" strike="noStrike" cap="none" dirty="0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104+5</a:t>
            </a:r>
            <a:endParaRPr sz="2625" i="0" u="none" strike="noStrike" cap="none" dirty="0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3" grpId="0"/>
      <p:bldP spid="95" grpId="0"/>
      <p:bldP spid="99" grpId="0"/>
      <p:bldP spid="103" grpId="0"/>
      <p:bldP spid="4" grpId="0"/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FF"/>
        </a:solidFill>
        <a:effectLst/>
      </p:bgPr>
    </p:bg>
    <p:spTree>
      <p:nvGrpSpPr>
        <p:cNvPr id="1" name="Shape 92">
          <a:extLst>
            <a:ext uri="{FF2B5EF4-FFF2-40B4-BE49-F238E27FC236}">
              <a16:creationId xmlns:a16="http://schemas.microsoft.com/office/drawing/2014/main" id="{B6B10CF1-B353-7900-D619-FB431B3C2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8">
            <a:extLst>
              <a:ext uri="{FF2B5EF4-FFF2-40B4-BE49-F238E27FC236}">
                <a16:creationId xmlns:a16="http://schemas.microsoft.com/office/drawing/2014/main" id="{71622175-24FE-E3A5-53A2-8823ED2933BF}"/>
              </a:ext>
            </a:extLst>
          </p:cNvPr>
          <p:cNvSpPr/>
          <p:nvPr/>
        </p:nvSpPr>
        <p:spPr>
          <a:xfrm>
            <a:off x="619083" y="1608970"/>
            <a:ext cx="3873000" cy="8062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Защитный слой для ИИ-агента: </a:t>
            </a:r>
            <a:r>
              <a:rPr lang="ru-RU" sz="1200" dirty="0"/>
              <a:t>п</a:t>
            </a:r>
            <a:r>
              <a:rPr lang="ru-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отенциально опасное действие сначала выполняется в </a:t>
            </a:r>
            <a:r>
              <a:rPr lang="ru-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безопасной</a:t>
            </a:r>
            <a:r>
              <a:rPr lang="ru-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среде, а в проект попадает только после проверки</a:t>
            </a:r>
            <a:endParaRPr sz="120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8">
            <a:extLst>
              <a:ext uri="{FF2B5EF4-FFF2-40B4-BE49-F238E27FC236}">
                <a16:creationId xmlns:a16="http://schemas.microsoft.com/office/drawing/2014/main" id="{5FFBE800-2201-2B21-3378-34B5D3DF618F}"/>
              </a:ext>
            </a:extLst>
          </p:cNvPr>
          <p:cNvSpPr/>
          <p:nvPr/>
        </p:nvSpPr>
        <p:spPr>
          <a:xfrm>
            <a:off x="616531" y="2615445"/>
            <a:ext cx="3873600" cy="820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Ценность:</a:t>
            </a:r>
            <a:r>
              <a:rPr lang="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автономность работы агента без цены в виде инцидента — обычная работа без вопросов, вредное не проходит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8">
            <a:extLst>
              <a:ext uri="{FF2B5EF4-FFF2-40B4-BE49-F238E27FC236}">
                <a16:creationId xmlns:a16="http://schemas.microsoft.com/office/drawing/2014/main" id="{C6940167-061A-388B-EC20-E1D2B75C03E2}"/>
              </a:ext>
            </a:extLst>
          </p:cNvPr>
          <p:cNvSpPr/>
          <p:nvPr/>
        </p:nvSpPr>
        <p:spPr>
          <a:xfrm>
            <a:off x="533482" y="4382824"/>
            <a:ext cx="2191429" cy="508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ru-RU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м</a:t>
            </a:r>
            <a:r>
              <a:rPr lang="ru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одель в живом тестировании: </a:t>
            </a:r>
            <a:r>
              <a:rPr lang="ru-RU" dirty="0" err="1"/>
              <a:t>kilo</a:t>
            </a:r>
            <a:r>
              <a:rPr lang="ru-RU" dirty="0"/>
              <a:t>/</a:t>
            </a:r>
            <a:r>
              <a:rPr lang="ru-RU" dirty="0" err="1"/>
              <a:t>stepfun</a:t>
            </a:r>
            <a:r>
              <a:rPr lang="ru-RU" dirty="0"/>
              <a:t>/step-3.7-flash · 132 живых запуска на двух платформах: атаки 78% → 0%, задачи 20 из 21</a:t>
            </a: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8">
            <a:extLst>
              <a:ext uri="{FF2B5EF4-FFF2-40B4-BE49-F238E27FC236}">
                <a16:creationId xmlns:a16="http://schemas.microsoft.com/office/drawing/2014/main" id="{27158D2B-81C7-1721-ACF9-BCC1200E8793}"/>
              </a:ext>
            </a:extLst>
          </p:cNvPr>
          <p:cNvSpPr/>
          <p:nvPr/>
        </p:nvSpPr>
        <p:spPr>
          <a:xfrm>
            <a:off x="532650" y="3870742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sz="2625" i="0" u="none" strike="noStrike" cap="none" dirty="0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4" name="Google Shape;104;p18">
            <a:extLst>
              <a:ext uri="{FF2B5EF4-FFF2-40B4-BE49-F238E27FC236}">
                <a16:creationId xmlns:a16="http://schemas.microsoft.com/office/drawing/2014/main" id="{A3DC1F7D-3F06-A60E-2437-7F78A32377DE}"/>
              </a:ext>
            </a:extLst>
          </p:cNvPr>
          <p:cNvSpPr/>
          <p:nvPr/>
        </p:nvSpPr>
        <p:spPr>
          <a:xfrm>
            <a:off x="8173388" y="416837"/>
            <a:ext cx="494100" cy="26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058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8">
            <a:extLst>
              <a:ext uri="{FF2B5EF4-FFF2-40B4-BE49-F238E27FC236}">
                <a16:creationId xmlns:a16="http://schemas.microsoft.com/office/drawing/2014/main" id="{2CF1D5B1-77D5-7619-3C47-D4C5681169B6}"/>
              </a:ext>
            </a:extLst>
          </p:cNvPr>
          <p:cNvSpPr/>
          <p:nvPr/>
        </p:nvSpPr>
        <p:spPr>
          <a:xfrm>
            <a:off x="476250" y="784238"/>
            <a:ext cx="690753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Автономность за счет улучшения архитектуры</a:t>
            </a:r>
            <a:endParaRPr sz="2625" i="0" u="none" strike="noStrike" cap="none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6" name="Google Shape;106;p18">
            <a:extLst>
              <a:ext uri="{FF2B5EF4-FFF2-40B4-BE49-F238E27FC236}">
                <a16:creationId xmlns:a16="http://schemas.microsoft.com/office/drawing/2014/main" id="{EFE175EE-204D-3105-17FB-1AE1FCA7D4C1}"/>
              </a:ext>
            </a:extLst>
          </p:cNvPr>
          <p:cNvSpPr/>
          <p:nvPr/>
        </p:nvSpPr>
        <p:spPr>
          <a:xfrm>
            <a:off x="476250" y="1606759"/>
            <a:ext cx="56400" cy="2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>
                <a:solidFill>
                  <a:srgbClr val="8F2F27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8">
            <a:extLst>
              <a:ext uri="{FF2B5EF4-FFF2-40B4-BE49-F238E27FC236}">
                <a16:creationId xmlns:a16="http://schemas.microsoft.com/office/drawing/2014/main" id="{C26F984B-9133-8B1B-3A0A-6651232A5509}"/>
              </a:ext>
            </a:extLst>
          </p:cNvPr>
          <p:cNvSpPr/>
          <p:nvPr/>
        </p:nvSpPr>
        <p:spPr>
          <a:xfrm>
            <a:off x="476250" y="2599630"/>
            <a:ext cx="56400" cy="2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>
                <a:solidFill>
                  <a:srgbClr val="8F2F27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9" name="Google Shape;109;p18">
            <a:extLst>
              <a:ext uri="{FF2B5EF4-FFF2-40B4-BE49-F238E27FC236}">
                <a16:creationId xmlns:a16="http://schemas.microsoft.com/office/drawing/2014/main" id="{4801E6CE-3259-F280-6E1F-6D6C5807B00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6250" y="320900"/>
            <a:ext cx="1536343" cy="4246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1F743D4-57C1-6E9F-A9C0-4567A39435A2}"/>
              </a:ext>
            </a:extLst>
          </p:cNvPr>
          <p:cNvSpPr txBox="1"/>
          <p:nvPr/>
        </p:nvSpPr>
        <p:spPr>
          <a:xfrm>
            <a:off x="4839580" y="1520502"/>
            <a:ext cx="407664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ru-RU" sz="1200" b="1" dirty="0"/>
              <a:t>Покрываемые сценарии при тестировании:</a:t>
            </a:r>
          </a:p>
          <a:p>
            <a:pPr lvl="0"/>
            <a:endParaRPr lang="ru-RU" sz="1200" b="1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200" b="1" dirty="0">
                <a:solidFill>
                  <a:srgbClr val="00B050"/>
                </a:solidFill>
              </a:rPr>
              <a:t>обычная работа</a:t>
            </a:r>
            <a:r>
              <a:rPr lang="ru-RU" sz="1200" dirty="0">
                <a:solidFill>
                  <a:srgbClr val="00B050"/>
                </a:solidFill>
              </a:rPr>
              <a:t> </a:t>
            </a:r>
            <a:r>
              <a:rPr lang="ru-RU" sz="1200" dirty="0"/>
              <a:t>— правка кода и локальный тест проходят без вмешательства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200" b="1" dirty="0"/>
              <a:t>инъекция в README</a:t>
            </a:r>
            <a:r>
              <a:rPr lang="ru-RU" sz="1200" dirty="0"/>
              <a:t> — вредный результат отброшен, агент перепланировал работу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200" b="1" dirty="0"/>
              <a:t>скрытый автозапуск</a:t>
            </a:r>
            <a:r>
              <a:rPr lang="ru-RU" sz="1200" dirty="0"/>
              <a:t> — подброшенный файл обнаружен на проверке после безопасного выполнения и не попал в проект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200" b="1" dirty="0"/>
              <a:t>скачать и выполнить</a:t>
            </a:r>
            <a:r>
              <a:rPr lang="ru-RU" sz="1200" dirty="0"/>
              <a:t> — команда вида «загрузить скрипт и запустить» отклонена до выполнения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200" b="1" dirty="0"/>
              <a:t>подозрительный источник пакета</a:t>
            </a:r>
            <a:r>
              <a:rPr lang="ru-RU" sz="1200" dirty="0"/>
              <a:t> — установка из непроверенного источника отклонена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200" b="1" dirty="0"/>
              <a:t>неизвестный инструмент</a:t>
            </a:r>
            <a:r>
              <a:rPr lang="ru-RU" sz="1200" dirty="0"/>
              <a:t> — незнакомый инструмент заблокирован по умолчанию</a:t>
            </a:r>
          </a:p>
          <a:p>
            <a:endParaRPr lang="ru-RU" sz="1200" dirty="0"/>
          </a:p>
          <a:p>
            <a:endParaRPr lang="ru-RU" sz="1200" dirty="0"/>
          </a:p>
          <a:p>
            <a:endParaRPr lang="ru-RU" sz="1200" dirty="0"/>
          </a:p>
        </p:txBody>
      </p:sp>
      <p:sp>
        <p:nvSpPr>
          <p:cNvPr id="3" name="Google Shape;97;p18">
            <a:extLst>
              <a:ext uri="{FF2B5EF4-FFF2-40B4-BE49-F238E27FC236}">
                <a16:creationId xmlns:a16="http://schemas.microsoft.com/office/drawing/2014/main" id="{3C2C518D-3362-BB73-DF91-C2812232A31C}"/>
              </a:ext>
            </a:extLst>
          </p:cNvPr>
          <p:cNvSpPr/>
          <p:nvPr/>
        </p:nvSpPr>
        <p:spPr>
          <a:xfrm>
            <a:off x="2924253" y="4382932"/>
            <a:ext cx="1715700" cy="4806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ea typeface="Calibri"/>
              </a:rPr>
              <a:t>задержка шлюза на одно решение, macOS; WSL2 до 38 мс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101;p18">
            <a:extLst>
              <a:ext uri="{FF2B5EF4-FFF2-40B4-BE49-F238E27FC236}">
                <a16:creationId xmlns:a16="http://schemas.microsoft.com/office/drawing/2014/main" id="{560DAEC7-6FE3-2D89-0ED9-6D7320A283F9}"/>
              </a:ext>
            </a:extLst>
          </p:cNvPr>
          <p:cNvSpPr/>
          <p:nvPr/>
        </p:nvSpPr>
        <p:spPr>
          <a:xfrm>
            <a:off x="2924395" y="3870742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≤25ms</a:t>
            </a:r>
            <a:endParaRPr sz="2625" i="0" u="none" strike="noStrike" cap="none" dirty="0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064395454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8" grpId="0"/>
      <p:bldP spid="102" grpId="0"/>
      <p:bldP spid="2" grpId="0"/>
      <p:bldP spid="3" grpId="0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93E33"/>
        </a:solidFill>
        <a:effectLst/>
      </p:bgPr>
    </p:bg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Google Shape;18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01422" y="307125"/>
            <a:ext cx="1673574" cy="462524"/>
          </a:xfrm>
          <a:prstGeom prst="rect">
            <a:avLst/>
          </a:prstGeom>
          <a:noFill/>
          <a:ln>
            <a:noFill/>
          </a:ln>
        </p:spPr>
      </p:pic>
      <p:sp>
        <p:nvSpPr>
          <p:cNvPr id="960" name="demo-title"/>
          <p:cNvSpPr>
            <a:spLocks noGrp="1"/>
          </p:cNvSpPr>
          <p:nvPr/>
        </p:nvSpPr>
        <p:spPr>
          <a:xfrm>
            <a:off x="469900" y="914400"/>
            <a:ext cx="11430000" cy="762000"/>
          </a:xfrm>
          <a:prstGeom prst="rect">
            <a:avLst/>
          </a:prstGeom>
        </p:spPr>
        <p:txBody>
          <a:bodyPr/>
          <a:lstStyle/>
          <a:p>
            <a:r>
              <a:rPr lang="ru-RU" sz="2800" b="1">
                <a:solidFill>
                  <a:srgbClr val="FFFFFF"/>
                </a:solidFill>
              </a:rPr>
              <a:t>Один сценарий: без защиты и с защитой</a:t>
            </a:r>
          </a:p>
        </p:txBody>
      </p:sp>
      <p:sp>
        <p:nvSpPr>
          <p:cNvPr id="971" name="card0"/>
          <p:cNvSpPr/>
          <p:nvPr/>
        </p:nvSpPr>
        <p:spPr>
          <a:xfrm>
            <a:off x="469900" y="1676400"/>
            <a:ext cx="8811260" cy="711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</p:spPr>
        <p:txBody>
          <a:bodyPr lIns="228600" tIns="76200" rIns="228600" bIns="50800" anchor="ctr"/>
          <a:lstStyle/>
          <a:p>
            <a:r>
              <a:rPr lang="ru-RU" sz="1100" b="1" spc="120">
                <a:solidFill>
                  <a:srgbClr val="C93E33"/>
                </a:solidFill>
              </a:rPr>
              <a:t>1 · ОДИН СЦЕНАРИЙ</a:t>
            </a:r>
          </a:p>
          <a:p>
            <a:r>
              <a:rPr lang="ru-RU" sz="1600" b="1">
                <a:solidFill>
                  <a:srgbClr val="161412"/>
                </a:solidFill>
              </a:rPr>
              <a:t>Агент чинит баг и читает README со спрятанной инструкцией</a:t>
            </a:r>
          </a:p>
        </p:txBody>
      </p:sp>
      <p:sp>
        <p:nvSpPr>
          <p:cNvPr id="972" name="card1"/>
          <p:cNvSpPr/>
          <p:nvPr/>
        </p:nvSpPr>
        <p:spPr>
          <a:xfrm>
            <a:off x="469900" y="2476500"/>
            <a:ext cx="8811260" cy="711200"/>
          </a:xfrm>
          <a:prstGeom prst="roundRect">
            <a:avLst>
              <a:gd name="adj" fmla="val 12000"/>
            </a:avLst>
          </a:prstGeom>
          <a:solidFill>
            <a:srgbClr val="111318"/>
          </a:solidFill>
        </p:spPr>
        <p:txBody>
          <a:bodyPr lIns="228600" tIns="76200" rIns="228600" bIns="50800" anchor="ctr"/>
          <a:lstStyle/>
          <a:p>
            <a:r>
              <a:rPr lang="ru-RU" sz="1100" b="1" spc="120">
                <a:solidFill>
                  <a:srgbClr val="F6D8D5"/>
                </a:solidFill>
              </a:rPr>
              <a:t>2 · БЕЗ ЗАЩИТЫ (--auto)</a:t>
            </a:r>
          </a:p>
          <a:p>
            <a:r>
              <a:rPr lang="ru-RU" sz="1600" b="1">
                <a:solidFill>
                  <a:srgbClr val="FFFFFF"/>
                </a:solidFill>
              </a:rPr>
              <a:t>Агент поддаётся — файл автозапуска появляется в проекте</a:t>
            </a:r>
          </a:p>
        </p:txBody>
      </p:sp>
      <p:sp>
        <p:nvSpPr>
          <p:cNvPr id="973" name="card2"/>
          <p:cNvSpPr/>
          <p:nvPr/>
        </p:nvSpPr>
        <p:spPr>
          <a:xfrm>
            <a:off x="469900" y="3276600"/>
            <a:ext cx="8811260" cy="711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</p:spPr>
        <p:txBody>
          <a:bodyPr lIns="228600" tIns="76200" rIns="228600" bIns="50800" anchor="ctr"/>
          <a:lstStyle/>
          <a:p>
            <a:r>
              <a:rPr lang="ru-RU" sz="1100" b="1" spc="120">
                <a:solidFill>
                  <a:srgbClr val="C93E33"/>
                </a:solidFill>
              </a:rPr>
              <a:t>3 · С ЗАЩИТОЙ (auto mode)</a:t>
            </a:r>
          </a:p>
          <a:p>
            <a:r>
              <a:rPr lang="ru-RU" sz="1600" b="1">
                <a:solidFill>
                  <a:srgbClr val="161412"/>
                </a:solidFill>
              </a:rPr>
              <a:t>Действие выполняется в копии, эффект проверяется по факту</a:t>
            </a:r>
          </a:p>
        </p:txBody>
      </p:sp>
      <p:sp>
        <p:nvSpPr>
          <p:cNvPr id="974" name="card3"/>
          <p:cNvSpPr/>
          <p:nvPr/>
        </p:nvSpPr>
        <p:spPr>
          <a:xfrm>
            <a:off x="469900" y="4076700"/>
            <a:ext cx="8811260" cy="711200"/>
          </a:xfrm>
          <a:prstGeom prst="roundRect">
            <a:avLst>
              <a:gd name="adj" fmla="val 12000"/>
            </a:avLst>
          </a:prstGeom>
          <a:solidFill>
            <a:srgbClr val="161412"/>
          </a:solidFill>
        </p:spPr>
        <p:txBody>
          <a:bodyPr lIns="228600" tIns="76200" rIns="228600" bIns="50800" anchor="ctr"/>
          <a:lstStyle/>
          <a:p>
            <a:r>
              <a:rPr lang="ru-RU" sz="1100" b="1" spc="120">
                <a:solidFill>
                  <a:srgbClr val="F6D8D5"/>
                </a:solidFill>
              </a:rPr>
              <a:t>4 · ИТОГ</a:t>
            </a:r>
          </a:p>
          <a:p>
            <a:r>
              <a:rPr lang="ru-RU" sz="1600" b="1">
                <a:solidFill>
                  <a:srgbClr val="8FD49B"/>
                </a:solidFill>
              </a:rPr>
              <a:t>DENY — файла нет в проекте, починка бага применена, агент продолжил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FF"/>
        </a:solidFill>
        <a:effectLst/>
      </p:bgPr>
    </p:bg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5" name="Google Shape;215;p27"/>
          <p:cNvCxnSpPr/>
          <p:nvPr/>
        </p:nvCxnSpPr>
        <p:spPr>
          <a:xfrm>
            <a:off x="2636307" y="3494757"/>
            <a:ext cx="2213400" cy="0"/>
          </a:xfrm>
          <a:prstGeom prst="straightConnector1">
            <a:avLst/>
          </a:prstGeom>
          <a:solidFill>
            <a:srgbClr val="000000"/>
          </a:solidFill>
          <a:ln w="21150" cap="flat" cmpd="sng">
            <a:solidFill>
              <a:srgbClr val="C93E33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16" name="Google Shape;216;p27"/>
          <p:cNvCxnSpPr/>
          <p:nvPr/>
        </p:nvCxnSpPr>
        <p:spPr>
          <a:xfrm>
            <a:off x="4843468" y="3491617"/>
            <a:ext cx="2213400" cy="0"/>
          </a:xfrm>
          <a:prstGeom prst="straightConnector1">
            <a:avLst/>
          </a:prstGeom>
          <a:solidFill>
            <a:srgbClr val="000000"/>
          </a:solidFill>
          <a:ln w="21150" cap="flat" cmpd="sng">
            <a:solidFill>
              <a:srgbClr val="C93E33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7" name="Google Shape;217;p27"/>
          <p:cNvSpPr/>
          <p:nvPr/>
        </p:nvSpPr>
        <p:spPr>
          <a:xfrm>
            <a:off x="476250" y="1673096"/>
            <a:ext cx="7606116" cy="503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Работает в Kilo Code — дальше в </a:t>
            </a:r>
            <a:r>
              <a:rPr lang="ru-RU" sz="26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сообщество</a:t>
            </a:r>
            <a:endParaRPr sz="2625" i="0" u="none" strike="noStrike" cap="none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8" name="Google Shape;218;p27"/>
          <p:cNvSpPr/>
          <p:nvPr/>
        </p:nvSpPr>
        <p:spPr>
          <a:xfrm>
            <a:off x="8173388" y="416837"/>
            <a:ext cx="494100" cy="26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058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9" name="Google Shape;219;p27"/>
          <p:cNvCxnSpPr/>
          <p:nvPr/>
        </p:nvCxnSpPr>
        <p:spPr>
          <a:xfrm>
            <a:off x="475843" y="3497897"/>
            <a:ext cx="2213400" cy="0"/>
          </a:xfrm>
          <a:prstGeom prst="straightConnector1">
            <a:avLst/>
          </a:prstGeom>
          <a:solidFill>
            <a:srgbClr val="000000"/>
          </a:solidFill>
          <a:ln w="21150" cap="flat" cmpd="sng">
            <a:solidFill>
              <a:srgbClr val="C93E33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0" name="Google Shape;220;p27"/>
          <p:cNvSpPr/>
          <p:nvPr/>
        </p:nvSpPr>
        <p:spPr>
          <a:xfrm>
            <a:off x="476250" y="3717492"/>
            <a:ext cx="1714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PoC </a:t>
            </a:r>
            <a:r>
              <a:rPr lang="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в Kilo Code: правила, изолированная копия, перенос только после проверки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7"/>
          <p:cNvSpPr/>
          <p:nvPr/>
        </p:nvSpPr>
        <p:spPr>
          <a:xfrm>
            <a:off x="2634524" y="3717492"/>
            <a:ext cx="1868896" cy="1426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Демо 6 сценариев, хеш решений совпал на macOS и Linux</a:t>
            </a:r>
            <a:r>
              <a:rPr lang="en-US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– </a:t>
            </a:r>
            <a:r>
              <a:rPr lang="ru-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живой A/B на 132 запусках: без защиты атаки проходят в 78%, с защитой — 0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7"/>
          <p:cNvSpPr/>
          <p:nvPr/>
        </p:nvSpPr>
        <p:spPr>
          <a:xfrm>
            <a:off x="4793914" y="3717491"/>
            <a:ext cx="1716600" cy="1203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Расширение покрытия тестами, уточнение метрик, </a:t>
            </a:r>
            <a:r>
              <a:rPr lang="ru" sz="1200" dirty="0"/>
              <a:t>о</a:t>
            </a:r>
            <a:r>
              <a:rPr lang="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формление </a:t>
            </a:r>
            <a:r>
              <a:rPr lang="en-US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 </a:t>
            </a:r>
            <a:r>
              <a:rPr lang="ru-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в сообщество </a:t>
            </a:r>
            <a:r>
              <a:rPr lang="en-US" sz="1200" dirty="0"/>
              <a:t>Kilo Code </a:t>
            </a:r>
            <a:r>
              <a:rPr lang="ru-RU" sz="1200" dirty="0"/>
              <a:t>для продвижения нашего подхода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7"/>
          <p:cNvSpPr/>
          <p:nvPr/>
        </p:nvSpPr>
        <p:spPr>
          <a:xfrm>
            <a:off x="6954421" y="3717697"/>
            <a:ext cx="17142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Попробуйте подход в своей работе — это расширит набор тестов и уточнит оценку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7"/>
          <p:cNvSpPr/>
          <p:nvPr/>
        </p:nvSpPr>
        <p:spPr>
          <a:xfrm>
            <a:off x="476250" y="2967000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Готово</a:t>
            </a:r>
            <a:endParaRPr sz="2625" i="0" u="none" strike="noStrike" cap="none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5" name="Google Shape;225;p27"/>
          <p:cNvSpPr/>
          <p:nvPr/>
        </p:nvSpPr>
        <p:spPr>
          <a:xfrm>
            <a:off x="2634666" y="2967175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Тесты</a:t>
            </a:r>
            <a:endParaRPr sz="2625" i="0" u="none" strike="noStrike" cap="none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6" name="Google Shape;226;p27"/>
          <p:cNvSpPr/>
          <p:nvPr/>
        </p:nvSpPr>
        <p:spPr>
          <a:xfrm>
            <a:off x="4793081" y="2967283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Дальше</a:t>
            </a:r>
            <a:endParaRPr sz="2625" i="0" u="none" strike="noStrike" cap="none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7" name="Google Shape;227;p27"/>
          <p:cNvSpPr/>
          <p:nvPr/>
        </p:nvSpPr>
        <p:spPr>
          <a:xfrm>
            <a:off x="6951497" y="2967391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dirty="0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Запрос</a:t>
            </a:r>
            <a:endParaRPr sz="2625" i="0" u="none" strike="noStrike" cap="none" dirty="0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8" name="Google Shape;228;p27"/>
          <p:cNvSpPr/>
          <p:nvPr/>
        </p:nvSpPr>
        <p:spPr>
          <a:xfrm>
            <a:off x="475843" y="3444878"/>
            <a:ext cx="105900" cy="105900"/>
          </a:xfrm>
          <a:prstGeom prst="ellipse">
            <a:avLst/>
          </a:prstGeom>
          <a:solidFill>
            <a:srgbClr val="C93E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27"/>
          <p:cNvSpPr/>
          <p:nvPr/>
        </p:nvSpPr>
        <p:spPr>
          <a:xfrm>
            <a:off x="2636307" y="3441738"/>
            <a:ext cx="105900" cy="105900"/>
          </a:xfrm>
          <a:prstGeom prst="ellipse">
            <a:avLst/>
          </a:prstGeom>
          <a:solidFill>
            <a:srgbClr val="C93E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27"/>
          <p:cNvSpPr/>
          <p:nvPr/>
        </p:nvSpPr>
        <p:spPr>
          <a:xfrm>
            <a:off x="6952593" y="3438598"/>
            <a:ext cx="105900" cy="105900"/>
          </a:xfrm>
          <a:prstGeom prst="ellipse">
            <a:avLst/>
          </a:prstGeom>
          <a:solidFill>
            <a:srgbClr val="8F2F2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27"/>
          <p:cNvSpPr/>
          <p:nvPr/>
        </p:nvSpPr>
        <p:spPr>
          <a:xfrm>
            <a:off x="4792129" y="3441738"/>
            <a:ext cx="105900" cy="105900"/>
          </a:xfrm>
          <a:prstGeom prst="ellipse">
            <a:avLst/>
          </a:prstGeom>
          <a:solidFill>
            <a:srgbClr val="C93E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32" name="Google Shape;232;p27"/>
          <p:cNvCxnSpPr/>
          <p:nvPr/>
        </p:nvCxnSpPr>
        <p:spPr>
          <a:xfrm>
            <a:off x="7005223" y="3496259"/>
            <a:ext cx="1667100" cy="0"/>
          </a:xfrm>
          <a:prstGeom prst="straightConnector1">
            <a:avLst/>
          </a:prstGeom>
          <a:solidFill>
            <a:srgbClr val="000000"/>
          </a:solidFill>
          <a:ln w="21150" cap="flat" cmpd="sng">
            <a:solidFill>
              <a:srgbClr val="C93E33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33" name="Google Shape;233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6250" y="320900"/>
            <a:ext cx="1536343" cy="42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FF"/>
        </a:solidFill>
        <a:effectLst/>
      </p:bgPr>
    </p:bg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2"/>
          <p:cNvSpPr/>
          <p:nvPr/>
        </p:nvSpPr>
        <p:spPr>
          <a:xfrm>
            <a:off x="609600" y="508000"/>
            <a:ext cx="762762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Смотрим эффект, а не </a:t>
            </a:r>
            <a:r>
              <a:rPr lang="ru-RU" sz="2600" b="1" dirty="0">
                <a:latin typeface="Inter"/>
                <a:ea typeface="Inter"/>
                <a:cs typeface="Inter"/>
                <a:sym typeface="Inter"/>
              </a:rPr>
              <a:t>процесс </a:t>
            </a:r>
            <a:r>
              <a:rPr lang="ru" sz="26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работы</a:t>
            </a:r>
            <a:endParaRPr sz="2625" i="0" u="none" strike="noStrike" cap="none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71" name="mod0"/>
          <p:cNvSpPr/>
          <p:nvPr/>
        </p:nvSpPr>
        <p:spPr>
          <a:xfrm>
            <a:off x="469900" y="115824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F2E9E8"/>
          </a:solidFill>
        </p:spPr>
        <p:txBody>
          <a:bodyPr lIns="182880" tIns="36576" rIns="182880" bIns="18288" anchor="ctr"/>
          <a:lstStyle/>
          <a:p>
            <a:r>
              <a:rPr lang="ru-RU" sz="900" b="1" spc="100">
                <a:solidFill>
                  <a:srgbClr val="C93E33"/>
                </a:solidFill>
              </a:rPr>
              <a:t>A · ПЕРЕХВАТ</a:t>
            </a:r>
            <a:r>
              <a:rPr lang="ru-RU" sz="1200">
                <a:solidFill>
                  <a:srgbClr val="161412"/>
                </a:solidFill>
              </a:rPr>
              <a:t>   Все действия агента идут через одну точку — обойти нельзя</a:t>
            </a:r>
          </a:p>
        </p:txBody>
      </p:sp>
      <p:sp>
        <p:nvSpPr>
          <p:cNvPr id="972" name="mod1"/>
          <p:cNvSpPr/>
          <p:nvPr/>
        </p:nvSpPr>
        <p:spPr>
          <a:xfrm>
            <a:off x="469900" y="170434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F2E9E8"/>
          </a:solidFill>
        </p:spPr>
        <p:txBody>
          <a:bodyPr lIns="182880" tIns="36576" rIns="182880" bIns="18288" anchor="ctr"/>
          <a:lstStyle/>
          <a:p>
            <a:r>
              <a:rPr lang="ru-RU" sz="900" b="1" spc="100" dirty="0">
                <a:solidFill>
                  <a:srgbClr val="C93E33"/>
                </a:solidFill>
              </a:rPr>
              <a:t>B · РАЗБОР</a:t>
            </a:r>
            <a:r>
              <a:rPr lang="ru-RU" sz="1200" dirty="0">
                <a:solidFill>
                  <a:srgbClr val="161412"/>
                </a:solidFill>
              </a:rPr>
              <a:t>   Что действие меняет: файлы, сеть, установку пакетов</a:t>
            </a:r>
          </a:p>
        </p:txBody>
      </p:sp>
      <p:sp>
        <p:nvSpPr>
          <p:cNvPr id="973" name="mod2"/>
          <p:cNvSpPr/>
          <p:nvPr/>
        </p:nvSpPr>
        <p:spPr>
          <a:xfrm>
            <a:off x="469900" y="225044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C93E33"/>
          </a:solidFill>
        </p:spPr>
        <p:txBody>
          <a:bodyPr lIns="182880" tIns="36576" rIns="182880" bIns="18288" anchor="ctr"/>
          <a:lstStyle/>
          <a:p>
            <a:r>
              <a:rPr lang="ru-RU" sz="900" b="1" spc="100" dirty="0">
                <a:solidFill>
                  <a:srgbClr val="F6D8D5"/>
                </a:solidFill>
              </a:rPr>
              <a:t>C · ПРАВИЛА</a:t>
            </a:r>
            <a:r>
              <a:rPr lang="ru-RU" sz="1200" dirty="0">
                <a:solidFill>
                  <a:srgbClr val="FFFFFF"/>
                </a:solidFill>
              </a:rPr>
              <a:t>   Жёсткие проверки по эффектам. Потенциально опасный текст сюда не доходит — только данные</a:t>
            </a:r>
          </a:p>
        </p:txBody>
      </p:sp>
      <p:sp>
        <p:nvSpPr>
          <p:cNvPr id="974" name="mod3"/>
          <p:cNvSpPr/>
          <p:nvPr/>
        </p:nvSpPr>
        <p:spPr>
          <a:xfrm>
            <a:off x="469900" y="279654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F2E9E8"/>
          </a:solidFill>
        </p:spPr>
        <p:txBody>
          <a:bodyPr lIns="182880" tIns="36576" rIns="182880" bIns="18288" anchor="ctr"/>
          <a:lstStyle/>
          <a:p>
            <a:r>
              <a:rPr lang="ru-RU" sz="900" b="1" spc="100">
                <a:solidFill>
                  <a:srgbClr val="C93E33"/>
                </a:solidFill>
              </a:rPr>
              <a:t>D · ПРОВЕРКА ПО ФАКТУ</a:t>
            </a:r>
            <a:r>
              <a:rPr lang="ru-RU" sz="1200">
                <a:solidFill>
                  <a:srgbClr val="161412"/>
                </a:solidFill>
              </a:rPr>
              <a:t>   Снимок состояния до и после: видно, что произошло на самом деле</a:t>
            </a:r>
          </a:p>
        </p:txBody>
      </p:sp>
      <p:sp>
        <p:nvSpPr>
          <p:cNvPr id="975" name="mod4"/>
          <p:cNvSpPr/>
          <p:nvPr/>
        </p:nvSpPr>
        <p:spPr>
          <a:xfrm>
            <a:off x="469900" y="334264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F2E9E8"/>
          </a:solidFill>
        </p:spPr>
        <p:txBody>
          <a:bodyPr lIns="182880" tIns="36576" rIns="182880" bIns="18288" anchor="ctr"/>
          <a:lstStyle/>
          <a:p>
            <a:r>
              <a:rPr lang="ru-RU" sz="900" b="1" spc="100" dirty="0">
                <a:solidFill>
                  <a:srgbClr val="C93E33"/>
                </a:solidFill>
              </a:rPr>
              <a:t>E · ОТВЕТ</a:t>
            </a:r>
            <a:r>
              <a:rPr lang="ru-RU" sz="1200" dirty="0">
                <a:solidFill>
                  <a:srgbClr val="161412"/>
                </a:solidFill>
              </a:rPr>
              <a:t>   Машинный ответ агенту без текста из внешних источников</a:t>
            </a:r>
          </a:p>
        </p:txBody>
      </p:sp>
      <p:sp>
        <p:nvSpPr>
          <p:cNvPr id="988" name="tech-note"/>
          <p:cNvSpPr/>
          <p:nvPr/>
        </p:nvSpPr>
        <p:spPr>
          <a:xfrm>
            <a:off x="469900" y="4467860"/>
            <a:ext cx="8674100" cy="508000"/>
          </a:xfrm>
          <a:prstGeom prst="rect">
            <a:avLst/>
          </a:prstGeom>
        </p:spPr>
        <p:txBody>
          <a:bodyPr/>
          <a:lstStyle/>
          <a:p>
            <a:r>
              <a:rPr lang="ru-RU" sz="1000" i="1" dirty="0">
                <a:solidFill>
                  <a:srgbClr val="7A7A7A"/>
                </a:solidFill>
              </a:rPr>
              <a:t>Ограничения: подмену инструкций в тексте не распознаём, ограничиваем последствия; необратимые внешние действия вхолостую не проверить, остаётся вопрос человеку; вредоносный код внутри разрешённой правки выглядит легитимно; атаки, растянутые на несколько шагов, сравниваем по одному действию</a:t>
            </a:r>
          </a:p>
        </p:txBody>
      </p:sp>
      <p:sp>
        <p:nvSpPr>
          <p:cNvPr id="5" name="mod5">
            <a:extLst>
              <a:ext uri="{FF2B5EF4-FFF2-40B4-BE49-F238E27FC236}">
                <a16:creationId xmlns:a16="http://schemas.microsoft.com/office/drawing/2014/main" id="{25DB1C03-7B85-7079-F2A3-ED0A7903D4FB}"/>
              </a:ext>
            </a:extLst>
          </p:cNvPr>
          <p:cNvSpPr/>
          <p:nvPr/>
        </p:nvSpPr>
        <p:spPr>
          <a:xfrm>
            <a:off x="469900" y="390398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F2E9E8"/>
          </a:solidFill>
        </p:spPr>
        <p:txBody>
          <a:bodyPr lIns="182880" tIns="36576" rIns="182880" bIns="18288" anchor="ctr"/>
          <a:lstStyle/>
          <a:p>
            <a:r>
              <a:rPr lang="ru-RU" sz="900" b="1" spc="100" dirty="0">
                <a:solidFill>
                  <a:srgbClr val="C93E33"/>
                </a:solidFill>
              </a:rPr>
              <a:t>F · ПАКЕТЫ</a:t>
            </a:r>
            <a:r>
              <a:rPr lang="ru-RU" sz="1200" dirty="0">
                <a:solidFill>
                  <a:srgbClr val="161412"/>
                </a:solidFill>
              </a:rPr>
              <a:t>   Новая или подозрительная зависимость идёт на вопрос до установки; lifecycle-скрипт пакета ловится по факту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2" grpId="0" animBg="1"/>
      <p:bldP spid="973" grpId="0" animBg="1"/>
      <p:bldP spid="974" grpId="0" animBg="1"/>
      <p:bldP spid="975" grpId="0" animBg="1"/>
      <p:bldP spid="988" grpId="0"/>
      <p:bldP spid="5" grpId="0" animBg="1"/>
    </p:bldLst>
  </p:timing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000000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</TotalTime>
  <Words>546</Words>
  <Application>Microsoft Office PowerPoint</Application>
  <PresentationFormat>Экран (16:9)</PresentationFormat>
  <Paragraphs>69</Paragraphs>
  <Slides>6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0" baseType="lpstr">
      <vt:lpstr>Arial</vt:lpstr>
      <vt:lpstr>Calibri</vt:lpstr>
      <vt:lpstr>Inter</vt:lpstr>
      <vt:lpstr>Simple Light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Михаил Белоконь</cp:lastModifiedBy>
  <cp:revision>5</cp:revision>
  <dcterms:modified xsi:type="dcterms:W3CDTF">2026-09-06T09:51:50Z</dcterms:modified>
</cp:coreProperties>
</file>