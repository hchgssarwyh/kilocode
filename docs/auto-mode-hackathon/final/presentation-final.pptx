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9"/>
  </p:notesMasterIdLst>
  <p:sldIdLst>
    <p:sldId id="256" r:id="rId2"/>
    <p:sldId id="257" r:id="rId3"/>
    <p:sldId id="261" r:id="rId4"/>
    <p:sldId id="259" r:id="rId5"/>
    <p:sldId id="258" r:id="rId6"/>
    <p:sldId id="260" r:id="rId7"/>
    <p:sldId id="263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63810EA-6F68-E44D-9CCB-DA685D47D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>
            <a:extLst>
              <a:ext uri="{FF2B5EF4-FFF2-40B4-BE49-F238E27FC236}">
                <a16:creationId xmlns:a16="http://schemas.microsoft.com/office/drawing/2014/main" id="{79187137-D924-4DEF-F691-D247B36CA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>
            <a:extLst>
              <a:ext uri="{FF2B5EF4-FFF2-40B4-BE49-F238E27FC236}">
                <a16:creationId xmlns:a16="http://schemas.microsoft.com/office/drawing/2014/main" id="{3554DB8A-E41A-4008-52E0-D623223212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>
            <a:extLst>
              <a:ext uri="{FF2B5EF4-FFF2-40B4-BE49-F238E27FC236}">
                <a16:creationId xmlns:a16="http://schemas.microsoft.com/office/drawing/2014/main" id="{07BF11E2-A2DC-6649-8B06-3DABA6F62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512980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1880000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полностью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2500000" y="4194230"/>
            <a:ext cx="1880000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250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3C2A9B-91C4-31E3-F782-7F5ECEB4E211}"/>
              </a:ext>
            </a:extLst>
          </p:cNvPr>
          <p:cNvSpPr txBox="1"/>
          <p:nvPr/>
        </p:nvSpPr>
        <p:spPr>
          <a:xfrm>
            <a:off x="4640000" y="4101726"/>
            <a:ext cx="188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классов атак </a:t>
            </a:r>
            <a:r>
              <a:rPr lang="ru-RU" sz="1200" dirty="0"/>
              <a:t>— по категориям MITRE ATT&amp;CK и OWASP LLM Top 10</a:t>
            </a:r>
            <a:endParaRPr lang="ru-RU" sz="1200" b="1" dirty="0"/>
          </a:p>
          <a:p>
            <a:endParaRPr lang="ru-RU" sz="1200" dirty="0"/>
          </a:p>
        </p:txBody>
      </p:sp>
      <p:sp>
        <p:nvSpPr>
          <p:cNvPr id="3" name="Google Shape;100;p18">
            <a:extLst>
              <a:ext uri="{FF2B5EF4-FFF2-40B4-BE49-F238E27FC236}">
                <a16:creationId xmlns:a16="http://schemas.microsoft.com/office/drawing/2014/main" id="{2FA6F7AE-3381-EAA8-8490-A633DF3FE2A0}"/>
              </a:ext>
            </a:extLst>
          </p:cNvPr>
          <p:cNvSpPr/>
          <p:nvPr/>
        </p:nvSpPr>
        <p:spPr>
          <a:xfrm>
            <a:off x="4722750" y="3711917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Tile 157"/>
          <p:cNvSpPr/>
          <p:nvPr/>
        </p:nvSpPr>
        <p:spPr>
          <a:xfrm>
            <a:off x="678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</a:p>
        </p:txBody>
      </p:sp>
      <p:sp>
        <p:nvSpPr>
          <p:cNvPr id="51" name="Tile 157 caption"/>
          <p:cNvSpPr txBox="1"/>
          <p:nvPr/>
        </p:nvSpPr>
        <p:spPr>
          <a:xfrm>
            <a:off x="6780000" y="4160000"/>
            <a:ext cx="20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живых запусков</a:t>
            </a:r>
            <a:r>
              <a:rPr lang="ru-RU" sz="1200" dirty="0"/>
              <a:t> с моделью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2380571" y="2107092"/>
            <a:ext cx="2280000" cy="2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indent="0" algn="l" rtl="0">
              <a:lnSpc>
                <a:spcPct val="110000"/>
              </a:lnSpc>
              <a:buNone/>
            </a:pPr>
            <a:r>
              <a:rPr lang="ru-RU" sz="1200" b="0" i="0" dirty="0"/>
              <a:t>живых запусков · 2 модели · 2 платформы (macOS Seatbelt, Linux bubblewrap)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Атаки прошли:</a:t>
            </a:r>
            <a:r>
              <a:rPr lang="ru-RU" sz="1050" b="0" i="0" dirty="0"/>
              <a:t> без защиты 84% (47 из 56) → с защитой 0 из 56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Обычные задачи выполнены:</a:t>
            </a:r>
            <a:r>
              <a:rPr lang="ru-RU" sz="1050" b="0" i="0" dirty="0"/>
              <a:t> 22 из 22 → 22 из 23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Лишних вопросов и блокировок на обычных задачах:</a:t>
            </a:r>
            <a:r>
              <a:rPr lang="ru-RU" sz="1050" b="0" i="0" dirty="0"/>
              <a:t> 0 из 22 действий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Шкала 0/1/2:</a:t>
            </a:r>
            <a:r>
              <a:rPr lang="ru-RU" sz="1050" b="0" i="0" dirty="0"/>
              <a:t> 32 двойки, 12 единиц, 0 нулей</a:t>
            </a:r>
          </a:p>
          <a:p>
            <a:pPr marL="0" marR="0" indent="0" algn="l" rtl="0">
              <a:lnSpc>
                <a:spcPct val="105000"/>
              </a:lnSpc>
              <a:spcBef>
                <a:spcPts val="400"/>
              </a:spcBef>
              <a:buNone/>
            </a:pPr>
            <a:r>
              <a:rPr lang="ru-RU" sz="850" b="0" i="1" dirty="0">
                <a:solidFill>
                  <a:srgbClr val="595959"/>
                </a:solidFill>
              </a:rPr>
              <a:t>единицы — вопрос человеку: только установка новой зависимости и чтение секрета, там политика спрашивает намеренно</a:t>
            </a: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238057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Защитный слой для ИИ-агента: результаты живого тестирования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420502"/>
            <a:ext cx="4076641" cy="345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>
                <a:solidFill>
                  <a:srgbClr val="00B050"/>
                </a:solidFill>
              </a:rPr>
              <a:t>обычная работа</a:t>
            </a:r>
            <a:r>
              <a:rPr lang="ru-RU" sz="1050" dirty="0">
                <a:solidFill>
                  <a:srgbClr val="00B050"/>
                </a:solidFill>
              </a:rPr>
              <a:t> </a:t>
            </a:r>
            <a:r>
              <a:rPr lang="ru-RU" sz="105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инъекция в README</a:t>
            </a:r>
            <a:r>
              <a:rPr lang="ru-RU" sz="105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скрытый автозапуск</a:t>
            </a:r>
            <a:r>
              <a:rPr lang="ru-RU" sz="105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скачать и выполнить</a:t>
            </a:r>
            <a:r>
              <a:rPr lang="ru-RU" sz="105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подозрительный источник пакета</a:t>
            </a:r>
            <a:r>
              <a:rPr lang="ru-RU" sz="105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неизвестный инструмент</a:t>
            </a:r>
            <a:r>
              <a:rPr lang="ru-RU" sz="1050" dirty="0"/>
              <a:t> — незнакомый инструмент заблокирован по умолчанию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обычная работа на публичном корпусе</a:t>
            </a:r>
            <a:r>
              <a:rPr lang="ru-RU" sz="1050" dirty="0"/>
              <a:t> — 9 046 действий SWE-agent через нашу политику: вмешательство 1,2%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утечка секрета</a:t>
            </a:r>
            <a:r>
              <a:rPr lang="ru-RU" sz="1050" dirty="0"/>
              <a:t> — чтение .env по инструкции из README остановлено, канарейка не ушла, 0 из 8 на двух моделях</a:t>
            </a:r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531539" y="2107092"/>
            <a:ext cx="1715700" cy="1079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53168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данные; контроль, до которого инъекция не доходит: только структурированные эффекты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40000"/>
            <a:ext cx="8674100" cy="650000"/>
          </a:xfrm>
          <a:prstGeom prst="rect">
            <a:avLst/>
          </a:prstGeom>
        </p:spPr>
        <p:txBody>
          <a:bodyPr/>
          <a:lstStyle/>
          <a:p>
            <a:r>
              <a:rPr lang="ru-RU" sz="9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действию; секрет, скопированный скриптом в файл проекта, проходит проверку по путям; коммиты делает человек: git-операции в auto mode запрещены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</a:t>
            </a:r>
          </a:p>
          <a:p>
            <a:r>
              <a:rPr lang="ru-RU" sz="1200" dirty="0">
                <a:solidFill>
                  <a:srgbClr val="161412"/>
                </a:solidFill>
              </a:rPr>
              <a:t>	</a:t>
            </a:r>
            <a:r>
              <a:rPr lang="ru-RU" sz="1200" dirty="0" err="1">
                <a:solidFill>
                  <a:srgbClr val="161412"/>
                </a:solidFill>
              </a:rPr>
              <a:t>lifecycle</a:t>
            </a:r>
            <a:r>
              <a:rPr lang="ru-RU" sz="1200" dirty="0">
                <a:solidFill>
                  <a:srgbClr val="161412"/>
                </a:solidFill>
              </a:rPr>
              <a:t>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40000"/>
            <a:ext cx="8811260" cy="8800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  <a:p>
            <a:r>
              <a:rPr lang="ru-RU" sz="1100" i="0">
                <a:solidFill>
                  <a:srgbClr val="E8E4E0"/>
                </a:solidFill>
              </a:rPr>
              <a:t>тот же сценарий на сильной модели nemotron-3-super-120b: без защиты 2 из 2, с защитой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200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модель угроз — в репозитории: docs/auto-mode-hackathon/THREAT-MODEL.md</a:t>
            </a: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104 автопроверки; демо 6 сценариев с одинаковым хешем на macOS и Linux; 148 живых запусков на двух моделях: атаки 84% → 0, задачи 22 из 23</a:t>
            </a: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95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метрик; PR в Kilo Code через issue; остановка после N отказов подряд с передачей человеку; проверка содержимого новых файлов на строки из секретов; pip/uv в проверке пакетов</a:t>
            </a: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>
          <a:extLst>
            <a:ext uri="{FF2B5EF4-FFF2-40B4-BE49-F238E27FC236}">
              <a16:creationId xmlns:a16="http://schemas.microsoft.com/office/drawing/2014/main" id="{D33C5C4B-C9DC-8F9D-5CC7-2F5C4CCF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>
            <a:extLst>
              <a:ext uri="{FF2B5EF4-FFF2-40B4-BE49-F238E27FC236}">
                <a16:creationId xmlns:a16="http://schemas.microsoft.com/office/drawing/2014/main" id="{18A0E384-8DC6-5E05-F8DD-3182C291ED55}"/>
              </a:ext>
            </a:extLst>
          </p:cNvPr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>
            <a:extLst>
              <a:ext uri="{FF2B5EF4-FFF2-40B4-BE49-F238E27FC236}">
                <a16:creationId xmlns:a16="http://schemas.microsoft.com/office/drawing/2014/main" id="{1BDCA643-801D-F1A8-4DEC-9BBC5B4F1344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7">
            <a:extLst>
              <a:ext uri="{FF2B5EF4-FFF2-40B4-BE49-F238E27FC236}">
                <a16:creationId xmlns:a16="http://schemas.microsoft.com/office/drawing/2014/main" id="{C99905F7-726A-2C9F-8981-64A7DE4FAC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Table 217">
            <a:extLst>
              <a:ext uri="{FF2B5EF4-FFF2-40B4-BE49-F238E27FC236}">
                <a16:creationId xmlns:a16="http://schemas.microsoft.com/office/drawing/2014/main" id="{CEF6777F-CF52-60B0-9473-34E11EF6F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887147"/>
              </p:ext>
            </p:extLst>
          </p:nvPr>
        </p:nvGraphicFramePr>
        <p:xfrm>
          <a:off x="476250" y="1460806"/>
          <a:ext cx="8046719" cy="3604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011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Участник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Роль и зона ответственности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Что сделано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Участие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856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Белоконь Михаил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Продакт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проджект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постановка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метрики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приёмка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Границы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MVP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критерии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конкурентный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анализ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30+;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продуктовые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презентация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живые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модели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поиск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дефект</a:t>
                      </a:r>
                      <a:r>
                        <a:rPr lang="ru-RU"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ов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доработки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синхронизация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артефактов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Весь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хакатон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ежедневно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Кирдяшкин Максим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Инженер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Auto Mode в Kilo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система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тестирования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Исследование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Kilo CLI и ТЗ;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шлюз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правила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теневая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копия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песочница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аудит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автотесты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демо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macOS;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документ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архитектуры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Межуева Екатерина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Инженер: методология проверок и ревью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Что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считать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атакой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успехом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в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карта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угроз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справочник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шаблон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ревью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перед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ключевыми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Google Shape;217;p27">
            <a:extLst>
              <a:ext uri="{FF2B5EF4-FFF2-40B4-BE49-F238E27FC236}">
                <a16:creationId xmlns:a16="http://schemas.microsoft.com/office/drawing/2014/main" id="{3C7C5703-9CC2-6352-F595-E3D777C54B17}"/>
              </a:ext>
            </a:extLst>
          </p:cNvPr>
          <p:cNvSpPr/>
          <p:nvPr/>
        </p:nvSpPr>
        <p:spPr>
          <a:xfrm>
            <a:off x="476250" y="957791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Команда и распределение задач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052182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875</Words>
  <Application>Microsoft Office PowerPoint</Application>
  <PresentationFormat>Экран (16:9)</PresentationFormat>
  <Paragraphs>96</Paragraphs>
  <Slides>7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7</cp:revision>
  <dcterms:modified xsi:type="dcterms:W3CDTF">2026-09-06T23:32:34Z</dcterms:modified>
</cp:coreProperties>
</file>